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-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91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430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 More Problems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04672" y="17556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36271"/>
                </a:solidFill>
              </a:rPr>
              <a:t>Super Key, Candidate Key, Primary Key and Foreign Key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536271"/>
                </a:solidFill>
              </a:rPr>
              <a:t>Finding keys in relations using attributes and examples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269480" y="3657600"/>
            <a:ext cx="118872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97880" y="2880360"/>
            <a:ext cx="1737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4768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STUDENT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36208" y="34930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</a:rPr>
              <a:t>StudentID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</a:rPr>
              <a:t>Name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</a:rPr>
              <a:t>DeptID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39912" y="2880360"/>
            <a:ext cx="1874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3648" y="31546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DEPARTMENT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15400" y="35478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</a:rPr>
              <a:t>DeptID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6271"/>
                </a:solidFill>
              </a:rPr>
              <a:t>DeptName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662672" y="325526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2F80ED"/>
                </a:solidFill>
              </a:rPr>
              <a:t>FK to PK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Quick method before solving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686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6271"/>
                </a:solidFill>
              </a:rPr>
              <a:t>Use the same steps on every relation.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154680" y="3054096"/>
            <a:ext cx="86868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943600" y="3054096"/>
            <a:ext cx="86868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732520" y="3054096"/>
            <a:ext cx="868680" cy="0"/>
          </a:xfrm>
          <a:prstGeom prst="line">
            <a:avLst/>
          </a:prstGeom>
          <a:noFill/>
          <a:ln w="12700">
            <a:solidFill>
              <a:srgbClr val="A0AEC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214884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359152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487168"/>
            <a:ext cx="155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89304" y="23774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Check uniqueness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2907792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271"/>
                </a:solidFill>
              </a:rPr>
              <a:t>Which attribute set identifies one row?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2359152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487168"/>
            <a:ext cx="155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78224" y="23774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List super keys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9312" y="2907792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271"/>
                </a:solidFill>
              </a:rPr>
              <a:t>Every unique set and its supersets are super keys.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14884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36792" y="2359152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487168"/>
            <a:ext cx="155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67144" y="23774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Keep minimal sets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28232" y="2907792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271"/>
                </a:solidFill>
              </a:rPr>
              <a:t>Remove extra attributes to get candidate keys.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214884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2359152"/>
            <a:ext cx="411480" cy="41148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3728" y="2487168"/>
            <a:ext cx="155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56064" y="23774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Choose and link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17152" y="2907792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36271"/>
                </a:solidFill>
              </a:rPr>
              <a:t>Select one primary key and mark foreign keys.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03120" y="4800600"/>
            <a:ext cx="7955280" cy="822960"/>
          </a:xfrm>
          <a:prstGeom prst="roundRect">
            <a:avLst>
              <a:gd name="adj" fmla="val 16667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508406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5131"/>
                </a:solidFill>
              </a:rPr>
              <a:t>Shortcut: after candidate keys are found, every superset of a candidate key is a super key.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super keys, candidate keys, primary key and foreign key.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CUSTOMER(CustomerID, Email, Phone, Name, City)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1224828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55180" y="1847088"/>
            <a:ext cx="1224828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80009" y="1847088"/>
            <a:ext cx="1011815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91824" y="1847088"/>
            <a:ext cx="1150274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42097" y="1847088"/>
            <a:ext cx="1011815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176272"/>
            <a:ext cx="122482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1755180" y="2176272"/>
            <a:ext cx="122482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riya@mail.com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980009" y="2176272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98765001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991824" y="2176272"/>
            <a:ext cx="115027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Riya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142097" y="2176272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Delhi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2505456"/>
            <a:ext cx="122482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C102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755180" y="2505456"/>
            <a:ext cx="122482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aman@mail.com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980009" y="2505456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98765002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991824" y="2505456"/>
            <a:ext cx="115027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142097" y="2505456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Mumbai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30352" y="2834640"/>
            <a:ext cx="122482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C103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755180" y="2834640"/>
            <a:ext cx="122482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riya2@mail.com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2980009" y="2834640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98765003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991824" y="2834640"/>
            <a:ext cx="115027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Riya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142097" y="2834640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Delhi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163824"/>
            <a:ext cx="122482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C104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755180" y="3163824"/>
            <a:ext cx="122482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neha@mail.com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2980009" y="3163824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98765004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3991824" y="3163824"/>
            <a:ext cx="115027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Neha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5142097" y="3163824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Chennai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0352" y="5257800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404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49808" y="5678424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271"/>
                </a:solidFill>
              </a:rPr>
              <a:t>CustomerID and Email are unique. Name and City repeat, so they cannot identify one customer.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1581912"/>
            <a:ext cx="122529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Super keys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</a:t>
            </a:r>
            <a:r>
              <a:rPr lang="en-US" sz="1400" dirty="0">
                <a:solidFill>
                  <a:srgbClr val="17324D"/>
                </a:solidFill>
              </a:rPr>
              <a:t>CustomerID}, {Email}, {CustomerID, Name}, {Email, Phone}, and any superset containing CustomerID or Email.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2857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9D58"/>
                </a:solidFill>
              </a:rPr>
              <a:t>Candidate keys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{CustomerID}, {Email}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994A"/>
                </a:solidFill>
              </a:rPr>
              <a:t>Primary key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Choose {CustomerID}. Email becomes an alternate key.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58584" y="5143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B4437"/>
                </a:solidFill>
              </a:rPr>
              <a:t>Foreign key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None in this single relation.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relation with category link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ProductID, SKU and Barcode are unique. CategoryID refers to CATEGORY.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PRODUCT(ProductID, SKU, Barcode, Name, CategoryID)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1273050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03402" y="1847088"/>
            <a:ext cx="1051650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55052" y="1847088"/>
            <a:ext cx="1051650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Barcode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06702" y="1847088"/>
            <a:ext cx="1195560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02262" y="1847088"/>
            <a:ext cx="1051650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CategoryID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176272"/>
            <a:ext cx="12730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1803402" y="2176272"/>
            <a:ext cx="10516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SK-1001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855052" y="2176272"/>
            <a:ext cx="10516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890001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906702" y="2176272"/>
            <a:ext cx="1195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102262" y="2176272"/>
            <a:ext cx="10516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2505456"/>
            <a:ext cx="12730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P102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803402" y="2505456"/>
            <a:ext cx="10516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SK-1002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855052" y="2505456"/>
            <a:ext cx="10516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890002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906702" y="2505456"/>
            <a:ext cx="1195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102262" y="2505456"/>
            <a:ext cx="10516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30352" y="2834640"/>
            <a:ext cx="12730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P103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803402" y="2834640"/>
            <a:ext cx="10516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SK-1003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2855052" y="2834640"/>
            <a:ext cx="10516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890003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906702" y="2834640"/>
            <a:ext cx="1195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102262" y="2834640"/>
            <a:ext cx="10516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C02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163824"/>
            <a:ext cx="12730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P104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803402" y="3163824"/>
            <a:ext cx="10516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SK-1004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2855052" y="3163824"/>
            <a:ext cx="10516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890004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3906702" y="3163824"/>
            <a:ext cx="1195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5102262" y="3163824"/>
            <a:ext cx="10516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53722" y="4626864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" y="4791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653796" y="5045964"/>
            <a:ext cx="554583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36271"/>
                </a:solidFill>
              </a:rPr>
              <a:t>Each product has a unique ProductID, SKU and Barcode. CategoryID repeats because many products can share a category.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2F80ED"/>
                </a:solidFill>
              </a:rPr>
              <a:t>Super keys</a:t>
            </a:r>
            <a:endParaRPr lang="en-US" sz="770" dirty="0"/>
          </a:p>
        </p:txBody>
      </p:sp>
      <p:sp>
        <p:nvSpPr>
          <p:cNvPr id="41" name="Text 39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{ProductID}, {SKU}, {Barcode}, {ProductID, Name}, {SKU, CategoryID}, {Barcode, ProductID}, and their supersets.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2857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0F9D58"/>
                </a:solidFill>
              </a:rPr>
              <a:t>Candidate keys</a:t>
            </a:r>
            <a:endParaRPr lang="en-US" sz="770" dirty="0"/>
          </a:p>
        </p:txBody>
      </p:sp>
      <p:sp>
        <p:nvSpPr>
          <p:cNvPr id="44" name="Text 42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{ProductID}, {SKU}, {Barcode}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2994A"/>
                </a:solidFill>
              </a:rPr>
              <a:t>Primary key</a:t>
            </a:r>
            <a:endParaRPr lang="en-US" sz="770" dirty="0"/>
          </a:p>
        </p:txBody>
      </p:sp>
      <p:sp>
        <p:nvSpPr>
          <p:cNvPr id="47" name="Text 45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{ProductID}. SKU and Barcode are alternate keys.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58584" y="5143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DB4437"/>
                </a:solidFill>
              </a:rPr>
              <a:t>Foreign key</a:t>
            </a:r>
            <a:endParaRPr lang="en-US" sz="770" dirty="0"/>
          </a:p>
        </p:txBody>
      </p:sp>
      <p:sp>
        <p:nvSpPr>
          <p:cNvPr id="50" name="Text 48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Product.CategoryID references CATEGORY(CategoryID).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OrderID is unique. CustomerID points to CUSTOMER.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ORDERS(OrderID, CustomerID, OrderDate, Total)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1271996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02348" y="1847088"/>
            <a:ext cx="1539784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42132" y="1847088"/>
            <a:ext cx="1539784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OrderDate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81916" y="1847088"/>
            <a:ext cx="1271996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2176272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O501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802348" y="2176272"/>
            <a:ext cx="15397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3342132" y="2176272"/>
            <a:ext cx="15397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Jan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4881916" y="2176272"/>
            <a:ext cx="12719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1500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30352" y="2505456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O502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1802348" y="2505456"/>
            <a:ext cx="15397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342132" y="2505456"/>
            <a:ext cx="15397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Jan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881916" y="2505456"/>
            <a:ext cx="12719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650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30352" y="2834640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O503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1802348" y="2834640"/>
            <a:ext cx="15397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C102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3342132" y="2834640"/>
            <a:ext cx="15397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Jan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881916" y="2834640"/>
            <a:ext cx="12719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2200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30352" y="3163824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O504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802348" y="3163824"/>
            <a:ext cx="15397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C103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342132" y="3163824"/>
            <a:ext cx="15397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Jan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4881916" y="3163824"/>
            <a:ext cx="12719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780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02920" y="5129784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440" y="5239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749808" y="5567172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36271"/>
                </a:solidFill>
              </a:rPr>
              <a:t>CustomerID repeats because one customer can place many orders. OrderID alone uniquely identifies each order</a:t>
            </a:r>
            <a:r>
              <a:rPr lang="en-US" sz="940" dirty="0">
                <a:solidFill>
                  <a:srgbClr val="536271"/>
                </a:solidFill>
              </a:rPr>
              <a:t>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Super keys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{OrderID}, {OrderID, CustomerID}, {OrderID, OrderDate}, {OrderID, Total}, and any larger set containing OrderID.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917980" y="2779776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58584" y="2738628"/>
            <a:ext cx="1499616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</a:rPr>
              <a:t>Candidate keys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{OrderID}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Primary key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{OrderID}.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5143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B4437"/>
                </a:solidFill>
              </a:rPr>
              <a:t>Foreign key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Orders.CustomerID references CUSTOMER(CustomerID).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item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stores one product inside one order.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ORDER_ITEM(OrderID, ProductID, Quantity, UnitPrice)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1335596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65948" y="1847088"/>
            <a:ext cx="1616774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82721" y="1847088"/>
            <a:ext cx="1335596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18317" y="1847088"/>
            <a:ext cx="1335596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UnitPrice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2176272"/>
            <a:ext cx="13355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O501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865948" y="2176272"/>
            <a:ext cx="1616774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3482721" y="2176272"/>
            <a:ext cx="13355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4818317" y="2176272"/>
            <a:ext cx="13355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30352" y="2505456"/>
            <a:ext cx="13355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O501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1865948" y="2505456"/>
            <a:ext cx="1616774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P102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482721" y="2505456"/>
            <a:ext cx="13355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818317" y="2505456"/>
            <a:ext cx="13355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30352" y="2834640"/>
            <a:ext cx="13355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O502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1865948" y="2834640"/>
            <a:ext cx="1616774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P101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3482721" y="2834640"/>
            <a:ext cx="13355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818317" y="2834640"/>
            <a:ext cx="13355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30352" y="3163824"/>
            <a:ext cx="13355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O503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865948" y="3163824"/>
            <a:ext cx="1616774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P103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482721" y="3163824"/>
            <a:ext cx="13355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4818317" y="3163824"/>
            <a:ext cx="13355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550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30352" y="5257800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404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749808" y="5678424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271"/>
                </a:solidFill>
              </a:rPr>
              <a:t>OrderID alone repeats and ProductID alone repeats. Together, OrderID plus ProductID identifies a line item.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Super keys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{OrderID, ProductID}, {OrderID, ProductID, Quantity}, {OrderID, ProductID, UnitPrice}, and the full set.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58584" y="2857500"/>
            <a:ext cx="140817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</a:rPr>
              <a:t>Candidate keys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{OrderID, ProductID}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Primary key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composite key {OrderID, ProductID}.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5143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B4437"/>
                </a:solidFill>
              </a:rPr>
              <a:t>Foreign key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OrderID references ORDERS(OrderID). ProductID references PRODUCT(ProductID).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 account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AccountNo and IBAN are unique. CustomerID and BranchID link other tables.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ACCOUNT(AccountNo, IBAN, CustomerID, BranchID, Balance)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1079269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AccountNo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09621" y="1847088"/>
            <a:ext cx="1079269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IBAN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88890" y="1847088"/>
            <a:ext cx="1306484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95374" y="1847088"/>
            <a:ext cx="1079269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74643" y="1847088"/>
            <a:ext cx="1079269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176272"/>
            <a:ext cx="107926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AC001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1609621" y="2176272"/>
            <a:ext cx="107926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IN001ABC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688890" y="2176272"/>
            <a:ext cx="13064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995374" y="2176272"/>
            <a:ext cx="1079269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B01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074643" y="2176272"/>
            <a:ext cx="1079269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25000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2505456"/>
            <a:ext cx="107926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AC002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609621" y="2505456"/>
            <a:ext cx="107926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IN002ABC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688890" y="2505456"/>
            <a:ext cx="13064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C102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995374" y="2505456"/>
            <a:ext cx="1079269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B01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074643" y="2505456"/>
            <a:ext cx="1079269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52000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30352" y="2834640"/>
            <a:ext cx="107926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AC003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609621" y="2834640"/>
            <a:ext cx="107926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IN003ABC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2688890" y="2834640"/>
            <a:ext cx="13064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995374" y="2834640"/>
            <a:ext cx="1079269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B02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074643" y="2834640"/>
            <a:ext cx="1079269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12000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163824"/>
            <a:ext cx="107926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AC004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609621" y="3163824"/>
            <a:ext cx="107926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IN004ABC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2688890" y="3163824"/>
            <a:ext cx="13064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C103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3995374" y="3163824"/>
            <a:ext cx="1079269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B02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5074643" y="3163824"/>
            <a:ext cx="1079269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83000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30352" y="5257800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404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49808" y="5678424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271"/>
                </a:solidFill>
              </a:rPr>
              <a:t>A customer can hold more than one account and a branch has many accounts, so those attributes are not keys here.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Super keys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{AccountNo}, {IBAN}, {AccountNo, CustomerID}, {IBAN, BranchID}, {AccountNo, Balance}, and their supersets.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285750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</a:rPr>
              <a:t>Candidate keys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{AccountNo}, {IBAN}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Primary key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{AccountNo}. IBAN becomes an alternate key.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58584" y="5143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B4437"/>
                </a:solidFill>
              </a:rPr>
              <a:t>Foreign key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CustomerID references CUSTOMER(CustomerID). BranchID references BRANCH(BranchID).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Library loan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LoanID is unique. A copy cannot start two loans on the same issue date.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LOAN(LoanID, BookCopyID, MemberID, IssueDate, ReturnDate)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998576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28928" y="1847088"/>
            <a:ext cx="1208803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BookCopyID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37731" y="1847088"/>
            <a:ext cx="998576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736307" y="1847088"/>
            <a:ext cx="1208803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IssueDate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45109" y="1847088"/>
            <a:ext cx="1208803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176272"/>
            <a:ext cx="99857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1528928" y="2176272"/>
            <a:ext cx="120880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BC01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737731" y="2176272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M01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736307" y="2176272"/>
            <a:ext cx="120880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Jan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945109" y="2176272"/>
            <a:ext cx="1208803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Jan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2505456"/>
            <a:ext cx="99857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L002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528928" y="2505456"/>
            <a:ext cx="120880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BC02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737731" y="2505456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M01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736307" y="2505456"/>
            <a:ext cx="120880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Jan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945109" y="2505456"/>
            <a:ext cx="1208803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Jan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30352" y="2834640"/>
            <a:ext cx="99857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L003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528928" y="2834640"/>
            <a:ext cx="120880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BC01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2737731" y="2834640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M02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736307" y="2834640"/>
            <a:ext cx="120880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Feb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4945109" y="2834640"/>
            <a:ext cx="1208803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Feb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163824"/>
            <a:ext cx="99857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L004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528928" y="3163824"/>
            <a:ext cx="120880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BC03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2737731" y="3163824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M03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3736307" y="3163824"/>
            <a:ext cx="120880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Feb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4945109" y="3163824"/>
            <a:ext cx="1208803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Feb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30352" y="5257800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404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49808" y="5678424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271"/>
                </a:solidFill>
              </a:rPr>
              <a:t>BookCopyID repeats across different dates. IssueDate repeats across copies. The pair BookCopyID plus IssueDate is unique.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Super keys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{LoanID}, {BookCopyID, IssueDate}, {LoanID, MemberID}, {BookCopyID, IssueDate, MemberID}, and supersets.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2857500"/>
            <a:ext cx="1554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</a:rPr>
              <a:t>Candidate keys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{LoanID}, {BookCopyID, IssueDate}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Primary key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{LoanID}.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58584" y="5143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B4437"/>
                </a:solidFill>
              </a:rPr>
              <a:t>Foreign key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BookCopyID references BOOK_COPY(BookCopyID). MemberID references MEMBER(MemberID).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 result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has one result per course and exam type.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EXAM_RESULT(StudentID, CourseID, ExamType, Marks, Grade)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1094750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25102" y="1847088"/>
            <a:ext cx="1244558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69661" y="1847088"/>
            <a:ext cx="1094750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ExamType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64411" y="1847088"/>
            <a:ext cx="1094750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59162" y="1847088"/>
            <a:ext cx="1094750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176272"/>
            <a:ext cx="10947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1625102" y="2176272"/>
            <a:ext cx="124455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CS101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869661" y="2176272"/>
            <a:ext cx="10947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964411" y="2176272"/>
            <a:ext cx="10947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059162" y="2176272"/>
            <a:ext cx="10947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2505456"/>
            <a:ext cx="10947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S101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625102" y="2505456"/>
            <a:ext cx="124455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CS101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869661" y="2505456"/>
            <a:ext cx="10947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964411" y="2505456"/>
            <a:ext cx="10947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059162" y="2505456"/>
            <a:ext cx="10947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30352" y="2834640"/>
            <a:ext cx="10947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S102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625102" y="2834640"/>
            <a:ext cx="124455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CS101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2869661" y="2834640"/>
            <a:ext cx="10947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964411" y="2834640"/>
            <a:ext cx="10947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059162" y="2834640"/>
            <a:ext cx="10947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163824"/>
            <a:ext cx="10947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S101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625102" y="3163824"/>
            <a:ext cx="1244558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MA101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2869661" y="3163824"/>
            <a:ext cx="1094750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3964411" y="3163824"/>
            <a:ext cx="10947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5059162" y="3163824"/>
            <a:ext cx="109475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30352" y="5257800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404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49808" y="5678424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271"/>
                </a:solidFill>
              </a:rPr>
              <a:t>StudentID, CourseID or ExamType alone are not enough. The three attributes together identify exactly one result row.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Super keys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{StudentID, CourseID, ExamType}, {StudentID, CourseID, ExamType, Marks}, and the full attribute set.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2857500"/>
            <a:ext cx="1461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</a:rPr>
              <a:t>Candidate keys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{StudentID, CourseID, ExamType}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Primary key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composite key {StudentID, CourseID, ExamType}.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58584" y="510235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B4437"/>
                </a:solidFill>
              </a:rPr>
              <a:t>Foreign key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StudentID references STUDENT(StudentID). CourseID references COURSE(CourseID).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Vehicle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 and RegistrationNo are unique. OwnerID points to OWNER.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VEHICLE(VIN, RegistrationNo, OwnerID, Model, Color)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1011815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42167" y="1847088"/>
            <a:ext cx="1437842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RegistrationNo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80009" y="1847088"/>
            <a:ext cx="1011815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91824" y="1847088"/>
            <a:ext cx="1150274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42097" y="1847088"/>
            <a:ext cx="1011815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176272"/>
            <a:ext cx="1011815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VIN001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1542167" y="2176272"/>
            <a:ext cx="1437842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DL01AB1234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980009" y="2176272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OW01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991824" y="2176272"/>
            <a:ext cx="115027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Swift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5142097" y="2176272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2505456"/>
            <a:ext cx="1011815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VIN002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542167" y="2505456"/>
            <a:ext cx="1437842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MH02CD5678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980009" y="2505456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OW02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991824" y="2505456"/>
            <a:ext cx="115027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142097" y="2505456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Black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30352" y="2834640"/>
            <a:ext cx="1011815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VIN003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542167" y="2834640"/>
            <a:ext cx="1437842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DL01EF4321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2980009" y="2834640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OW01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991824" y="2834640"/>
            <a:ext cx="115027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Swift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5142097" y="2834640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163824"/>
            <a:ext cx="1011815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VIN004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542167" y="3163824"/>
            <a:ext cx="1437842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TN03GH9090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2980009" y="3163824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OW03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3991824" y="3163824"/>
            <a:ext cx="1150274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Nexon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5142097" y="3163824"/>
            <a:ext cx="1011815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30352" y="5257800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404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49808" y="5678424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271"/>
                </a:solidFill>
              </a:rPr>
              <a:t>OwnerID repeats because one owner can have many vehicles. Model and Color also repeat, so they are not keys.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Super keys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{VIN}, {RegistrationNo}, {VIN, OwnerID}, {RegistrationNo, Model}, {VIN, Color}, and their supersets.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2857500"/>
            <a:ext cx="165201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</a:rPr>
              <a:t>Candidate keys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{VIN}, {RegistrationNo}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Primary key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{VIN}. RegistrationNo is an alternate key.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58584" y="5143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B4437"/>
                </a:solidFill>
              </a:rPr>
              <a:t>Foreign key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Vehicle.OwnerID references OWNER(OwnerID).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Appointment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doctor and a room cannot have two appointments at the same time.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APPOINTMENT(DoctorID, PatientID, RoomNo, ApptDateTime)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1271996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02348" y="1847088"/>
            <a:ext cx="1271996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74343" y="1847088"/>
            <a:ext cx="1271996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RoomNo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46339" y="1847088"/>
            <a:ext cx="1807573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ApptDateTime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2176272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D01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802348" y="2176272"/>
            <a:ext cx="12719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3074343" y="2176272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4346339" y="2176272"/>
            <a:ext cx="180757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Feb 10:00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30352" y="2505456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D01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1802348" y="2505456"/>
            <a:ext cx="12719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P102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074343" y="2505456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346339" y="2505456"/>
            <a:ext cx="180757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Feb 10:30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30352" y="2834640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D02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1802348" y="2834640"/>
            <a:ext cx="12719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P101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3074343" y="2834640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346339" y="2834640"/>
            <a:ext cx="180757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Feb 10:00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30352" y="3163824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D03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802348" y="3163824"/>
            <a:ext cx="127199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P103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074343" y="3163824"/>
            <a:ext cx="127199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4346339" y="3163824"/>
            <a:ext cx="1807573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Feb 11:00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30352" y="5257800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404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749808" y="5678424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271"/>
                </a:solidFill>
              </a:rPr>
              <a:t>DoctorID alone repeats and time alone repeats. Doctor plus time is unique. Room plus time is also unique.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F80ED"/>
                </a:solidFill>
              </a:rPr>
              <a:t>Super keys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{DoctorID, ApptDateTime}, {RoomNo, ApptDateTime}, {DoctorID, ApptDateTime, PatientID}, and supersets.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58583" y="2857500"/>
            <a:ext cx="147838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</a:rPr>
              <a:t>Candidate keys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{DoctorID, ApptDateTime}, {RoomNo, ApptDateTime}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Primary key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{DoctorID, ApptDateTime}.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5143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B4437"/>
                </a:solidFill>
              </a:rPr>
              <a:t>Foreign key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DoctorID references DOCTOR. PatientID references PATIENT. RoomNo references ROOM.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Payment relation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8580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2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PaymentID and TransactionRef are unique. OrderID links payments to orders.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424160" y="310896"/>
            <a:ext cx="1234440" cy="310896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3840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" y="1051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80ED"/>
                </a:solidFill>
              </a:rPr>
              <a:t>Relation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7101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PAYMENT(PaymentID, OrderID, TransactionRef, Amount, PaymentDate)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1847088"/>
            <a:ext cx="998576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28928" y="1847088"/>
            <a:ext cx="998576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27504" y="1847088"/>
            <a:ext cx="1419029" cy="329184"/>
          </a:xfrm>
          <a:prstGeom prst="rect">
            <a:avLst/>
          </a:prstGeom>
          <a:solidFill>
            <a:srgbClr val="FFF2E4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TransactionRef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46533" y="1847088"/>
            <a:ext cx="998576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45109" y="1847088"/>
            <a:ext cx="1208803" cy="329184"/>
          </a:xfrm>
          <a:prstGeom prst="rect">
            <a:avLst/>
          </a:prstGeom>
          <a:solidFill>
            <a:srgbClr val="E8F2FF"/>
          </a:solidFill>
          <a:ln>
            <a:solidFill>
              <a:srgbClr val="CBD5E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2176272"/>
            <a:ext cx="99857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PY001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1528928" y="2176272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O501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527504" y="2176272"/>
            <a:ext cx="141902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TXN-88A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946533" y="2176272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1000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945109" y="2176272"/>
            <a:ext cx="1208803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Jan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30352" y="2505456"/>
            <a:ext cx="99857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PY002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528928" y="2505456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O501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527504" y="2505456"/>
            <a:ext cx="141902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TXN-88B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946533" y="2505456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945109" y="2505456"/>
            <a:ext cx="1208803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Jan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530352" y="2834640"/>
            <a:ext cx="99857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PY003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1528928" y="2834640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O502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2527504" y="2834640"/>
            <a:ext cx="141902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TXN-90A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3946533" y="2834640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650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4945109" y="2834640"/>
            <a:ext cx="1208803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Jan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30352" y="3163824"/>
            <a:ext cx="998576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PY004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1528928" y="3163824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O503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2527504" y="3163824"/>
            <a:ext cx="1419029" cy="329184"/>
          </a:xfrm>
          <a:prstGeom prst="rect">
            <a:avLst/>
          </a:prstGeom>
          <a:solidFill>
            <a:srgbClr val="FFF8E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TXN-91A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3946533" y="3163824"/>
            <a:ext cx="998576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2200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4945109" y="3163824"/>
            <a:ext cx="1208803" cy="32918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Jan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530352" y="360273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36271"/>
                </a:solidFill>
              </a:rPr>
              <a:t>Orange columns are unique alone or part of a unique combination.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30352" y="5257800"/>
            <a:ext cx="5532120" cy="987552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404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</a:rPr>
              <a:t>How it was found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49808" y="5678424"/>
            <a:ext cx="50932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36271"/>
                </a:solidFill>
              </a:rPr>
              <a:t>OrderID can repeat when an order has multiple payments. PaymentID and TransactionRef remain unique for each payment.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629400" y="1078992"/>
            <a:ext cx="4983480" cy="528523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85432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Answer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85432" y="1664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58584" y="1714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Super keys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85432" y="1975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{PaymentID}, {TransactionRef}, {PaymentID, OrderID}, {TransactionRef, Amount}, {PaymentID, PaymentDate}, and supersets.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885432" y="2807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E8F6EE"/>
          </a:solidFill>
          <a:ln w="12700">
            <a:solidFill>
              <a:srgbClr val="E8F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58584" y="2857500"/>
            <a:ext cx="15544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9D58"/>
                </a:solidFill>
              </a:rPr>
              <a:t>Candidate keys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85432" y="3118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{PaymentID}, {TransactionRef}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6885432" y="3950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FF2E4"/>
          </a:solidFill>
          <a:ln w="12700">
            <a:solidFill>
              <a:srgbClr val="FFF2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58584" y="400050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</a:rPr>
              <a:t>Primary key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85432" y="4261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Choose {PaymentID}. TransactionRef is an alternate key.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6885432" y="5093208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58584" y="5143500"/>
            <a:ext cx="129844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B4437"/>
                </a:solidFill>
              </a:rPr>
              <a:t>Foreign key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85432" y="5404104"/>
            <a:ext cx="44714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7324D"/>
                </a:solidFill>
              </a:rPr>
              <a:t>Payment.OrderID references ORDERS(OrderID).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2920" y="65105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DBMS Keys Practice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11320272" y="6473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1606</Words>
  <Application>Microsoft Office PowerPoint</Application>
  <PresentationFormat>Widescreen</PresentationFormat>
  <Paragraphs>467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More Problems on Super Key, Candidate Key, Primary Key and Foreign Key</dc:title>
  <dc:subject>DBMS Keys Practice Problems</dc:subject>
  <dc:creator>OpenAI</dc:creator>
  <cp:lastModifiedBy>SANTOSH KUMAR SHARMA</cp:lastModifiedBy>
  <cp:revision>5</cp:revision>
  <dcterms:created xsi:type="dcterms:W3CDTF">2026-08-09T09:10:02Z</dcterms:created>
  <dcterms:modified xsi:type="dcterms:W3CDTF">2026-08-10T00:24:15Z</dcterms:modified>
</cp:coreProperties>
</file>