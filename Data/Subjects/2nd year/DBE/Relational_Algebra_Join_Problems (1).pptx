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Relational Algebra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Problems on JOIN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2834640"/>
            <a:ext cx="8275320" cy="685800"/>
          </a:xfrm>
          <a:prstGeom prst="roundRect">
            <a:avLst/>
          </a:prstGeom>
          <a:solidFill>
            <a:srgbClr val="234878"/>
          </a:solidFill>
          <a:ln w="15240">
            <a:solidFill>
              <a:srgbClr val="46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 solved problems with relation tables, expressions and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Natural Join | Theta Join | Equi Join | Outer Join | Self Join | Multi-relation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E1F0"/>
                </a:solidFill>
              </a:defRPr>
            </a:pPr>
            <a:r>
              <a:t>DBMS Classroom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Quick Reference: Join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Use this slide before solving the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6126480"/>
              </a:tblGrid>
              <a:tr h="542925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Operator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Notation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Theta Join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⋈θ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Join tuples satisfying any comparison condition θ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Equi Join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⋈R.A=S.B 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Theta join using equality condition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Natural Join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⋈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Automatically joins same-named compatible attributes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Left Outer Join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⟕ 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Keeps every tuple of R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Right Outer Join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⟖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Keeps every tuple of 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Full Outer Join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R ⟗ 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Keeps all matched and unmatched tuples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42925"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Self Join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ρE(R) ⋈ ρM(R)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Join a relation with a renamed copy of itself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51560" y="5806440"/>
            <a:ext cx="10058400" cy="5029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257"/>
                </a:solidFill>
              </a:defRPr>
            </a:pPr>
            <a:r>
              <a:t>Remember: selection (σ) filters rows and projection (π) chooses columns after the join.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1: Natural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EMPLOYEE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E101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E102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E103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E104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Find each employee name together with the corresponding department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DeptID has the same name in both relations.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1: Natural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EmpName, DeptName ( EMPLOYEE ⋈ DEPARTMENT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44805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Because DeptID is common to both relations, a natural join matches tuples having the same DeptID. Projection keeps only EmpName and DeptName.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Equivalent equi join: EMPLOYEE ⋈EMPLOYEE.DeptID = DEPARTMENT.DeptID DEPARTMENT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2: Theta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EMPLOYEE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Salary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32000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48000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62000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76000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SALARY_GRADE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MinSalary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MaxSalary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30000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39999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40000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59999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60000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79999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Find each employee with the salary grade in which the employee's salary falls.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Use two inequality conditions in the join.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2: Theta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Name, Salary, Grade ( EMPLOYEE ⋈Salary ≥ MinSalary ∧ Salary ≤ MaxSalary SALARY_GRADE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4805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Salary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32000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48000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62000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76000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This is a theta join because the condition uses ≥ and ≤ rather than only equality.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A theta join allows =, ≠, &lt;, &gt;, ≤ and ≥ conditions.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3: Join Followed by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STUDENT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ENROLLMENT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38862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Find the names of students who obtained grade A in any course.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First join on StudentID, then apply σ Grade='A'.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3: Join +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Name, CourseID, Grade ( σ Grade='A' ( STUDENT ⋈ ENROLLMENT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6997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6997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The join brings Name into the enrollment tuples. The selection keeps only rows with Grade = 'A'.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Selection can be applied after the join because Grade belongs to ENROLLMENT.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4: Multi-relation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STUDENT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48463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24528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ENROLLMENT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24528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0386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83296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COURSE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83296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60579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List student names together with the titles of all courses they are enrolled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Join STUDENT with ENROLLMENT, then join the result with COURSE.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4: Multi-relation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Name, Title ( (STUDENT ⋈ ENROLLMENT) ⋈ COURSE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37338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CN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StudentID matches STUDENT with ENROLLMENT. CourseID then matches ENROLLMENT with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This is a common pattern for resolving an M:N relationship through an associative relation.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5: Join with Multiple Selections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STUDENT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8463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Deepak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24528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ENROLLMENT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24528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40386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0386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83296" y="9235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COURSE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83296" y="1234440"/>
          <a:ext cx="374903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20"/>
              </a:tblGrid>
              <a:tr h="60579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60579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Find the names of CSE students who are enrolled in DBMS.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Apply Dept='CSE' and Title='DBMS' after the joins.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5: Join + Selection +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Name, Dept, Title ( σ Dept='CSE' ∧ Title='DBMS' ( (STUDENT ⋈ ENROLLMENT) ⋈ COURSE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6997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6997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997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The joins reconstruct student-course information. The selection keeps only CSE students taking DBMS.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Equivalent optimized form can push σ Dept='CSE' to STUDENT and σ Title='DBMS' to COURSE before joining.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6: Left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CUSTOMER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ORDERS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OrderID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1500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Show all customers and their orders, including customers who have never placed an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The left relation must be CUSTOMER.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6: Left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CUSTOMER ⟕CustomerID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37338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OrderID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1500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Every CUSTOMER tuple is preserved. When no matching order exists, attributes from ORDERS are represented by NULL.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Natural left outer join can be written CUSTOMER ⟕ ORDERS when CustomerID is the common join attribute.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7: Right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ORDER_ITEM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OrderID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PRODUCT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Keyboard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Mouse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Webcam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Speaker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Display every product and any order item in which it appears, including products that have never been ordered.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Use PRODUCT as the preserved right relation.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7: Right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ORDER_ITEM ⟖ProductID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37338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OrderID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Keyboard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Keyboard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O1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Mouse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Webcam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7338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Speaker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All PRODUCT tuples are preserved because PRODUCT is on the right side of the right outer join.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Equivalent expression: PRODUCT ⟕ProductID ORDER_ITEM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8: Full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STAFF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StaffID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StaffName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Anu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Ravi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Mina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DEPARTMENT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58293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8293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Show all staff and all departments, including unmatched staff and departments.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A full outer join preserves both sides.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8: Full Outer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STAFF ⟗STAFF.DeptID = DEPARTMENT.DeptID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4805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StaffID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StaffName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DeptName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Anu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Ravi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Mina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Matched tuples are combined. Unmatched STAFF and unmatched DEPARTMENT tuples are also retained with NULLs.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Full outer join = matching rows + unmatched left rows + unmatched right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9: Self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235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EMPLOYEE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0972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EmpName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ManagerID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Find each employee together with the name of the employee's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Rename EMPLOYEE as E and M before joining.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9: Self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π E.EmpName→Employee, M.EmpName→Manager ( ρE(EMPLOYEE) ⋈E.ManagerID = M.EmpID ρM(EMPLOYEE)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2806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52806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2806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Rahul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Amit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52806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Two renamed copies of EMPLOYEE are treated as separate relations. E represents the employee and M represents the manager.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Amit is omitted because ManagerID is NULL. Use a left outer self join to retain top-level managers.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10: Join on Multiple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Work out the relational algebra expression before viewing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66344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92354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57"/>
                </a:solidFill>
              </a:defRPr>
            </a:pPr>
            <a:r>
              <a:t>ATTENDANCE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1234440"/>
          <a:ext cx="5532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388620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388620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86200"/>
            <a:ext cx="960120" cy="41148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67912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328"/>
                </a:solidFill>
              </a:defRPr>
            </a:pPr>
            <a:r>
              <a:t>Combine marks and attendance only when both StudentID and CourseID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5A626C"/>
                </a:solidFill>
              </a:defRPr>
            </a:pPr>
            <a:r>
              <a:t>Hint: Use a composite equi-join condition.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Solution 10: Composite Equi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Relational algebra expression and resulting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Relational Algebra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74980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63257"/>
                </a:solidFill>
              </a:defRPr>
            </a:pPr>
            <a:r>
              <a:t>RESULT ⋈RESULT.StudentID = ATTENDANCE.StudentID ∧ RESULT.CourseID = ATTENDANCE.CourseID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57"/>
                </a:solidFill>
              </a:defRPr>
            </a:pPr>
            <a:r>
              <a:t>Result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2788920"/>
          <a:ext cx="6766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48056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StudentID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CourseID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 marL="45720" marR="45720" marT="18288" marB="18288">
                    <a:solidFill>
                      <a:srgbClr val="163257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L="45720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788920"/>
            <a:ext cx="3931920" cy="196596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0">
                <a:solidFill>
                  <a:srgbClr val="1E2328"/>
                </a:solidFill>
              </a:defRPr>
            </a:pPr>
            <a:r>
              <a:t>Both attributes must match. Matching only StudentID would incorrectly pair marks from one course with attendance from another.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983480"/>
            <a:ext cx="3931920" cy="749808"/>
          </a:xfrm>
          <a:prstGeom prst="roundRect">
            <a:avLst/>
          </a:prstGeom>
          <a:solidFill>
            <a:srgbClr val="F6F8FB"/>
          </a:solidFill>
          <a:ln w="1524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0">
                <a:solidFill>
                  <a:srgbClr val="5A626C"/>
                </a:solidFill>
              </a:defRPr>
            </a:pPr>
            <a:r>
              <a:t>This pattern is common when relations share a composite key.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Practice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Try these without looking at the previous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1. FACULTY(FID, Name, DeptID) and DEPARTMENT(DeptID, DeptName): list faculty names with department names.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2. STUDENT(SID, Name) and RESULT(SID, SubjectCode, Marks): find names of students scoring above 80.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3. BOOK(BookID, Title) and ISSUE(BookID, StudentID): show every book, including books never issued.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4. EMPLOYEE(EmpID, Name, ManagerID): show every employee and manager, including employees without managers.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5. PRODUCT(ProductID, CategoryID) and CATEGORY(CategoryID, CategoryName): count or list products by category after joining.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623560"/>
            <a:ext cx="10241280" cy="5943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28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3257"/>
                </a:solidFill>
              </a:defRPr>
            </a:pPr>
            <a:r>
              <a:t>Challenge: For each problem, identify the join type first, then decide whether σ or π is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 Problem Solving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86384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C"/>
                </a:solidFill>
              </a:defRPr>
            </a:pPr>
            <a:r>
              <a:t>A reliable 5-step method for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55448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94360" cy="59436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261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3257"/>
                </a:solidFill>
              </a:defRPr>
            </a:pPr>
            <a:r>
              <a:t>Identify the 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252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328"/>
                </a:solidFill>
              </a:defRPr>
            </a:pPr>
            <a:r>
              <a:t>Which tables contain the required attributes?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94360" cy="59436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762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3257"/>
                </a:solidFill>
              </a:defRPr>
            </a:pPr>
            <a:r>
              <a:t>Find the join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671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328"/>
                </a:solidFill>
              </a:defRPr>
            </a:pPr>
            <a:r>
              <a:t>Primary key and foreign key pairs are common join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594360" cy="59436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906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3257"/>
                </a:solidFill>
              </a:defRPr>
            </a:pPr>
            <a:r>
              <a:t>Choose the join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0815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328"/>
                </a:solidFill>
              </a:defRPr>
            </a:pPr>
            <a:r>
              <a:t>Inner, natural, theta, outer, or self join.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594360" cy="59436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05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3257"/>
                </a:solidFill>
              </a:defRPr>
            </a:pPr>
            <a:r>
              <a:t>Filter with 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99592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328"/>
                </a:solidFill>
              </a:defRPr>
            </a:pPr>
            <a:r>
              <a:t>Apply conditions such as Dept='CSE' or Marks &gt; 80.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594360" cy="594360"/>
          </a:xfrm>
          <a:prstGeom prst="roundRect">
            <a:avLst/>
          </a:prstGeom>
          <a:solidFill>
            <a:srgbClr val="163257"/>
          </a:solidFill>
          <a:ln w="15240">
            <a:solidFill>
              <a:srgbClr val="163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194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63257"/>
                </a:solidFill>
              </a:defRPr>
            </a:pPr>
            <a:r>
              <a:t>Project with 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10327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328"/>
                </a:solidFill>
              </a:defRPr>
            </a:pPr>
            <a:r>
              <a:t>Keep only the attributes requested in the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806440"/>
            <a:ext cx="10287000" cy="502920"/>
          </a:xfrm>
          <a:prstGeom prst="roundRect">
            <a:avLst/>
          </a:prstGeom>
          <a:solidFill>
            <a:srgbClr val="E6F0FC"/>
          </a:solidFill>
          <a:ln w="15240">
            <a:solidFill>
              <a:srgbClr val="2F7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3257"/>
                </a:solidFill>
              </a:defRPr>
            </a:pPr>
            <a:r>
              <a:t>General form: π required_attributes ( σ condition ( R ⋈join_condition S )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2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83680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DBMS | Relational Algebra | Join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