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FFFFFF"/>
                </a:solidFill>
              </a:defRPr>
            </a:pPr>
            <a:r>
              <a:t>RELATIONAL CALCULUS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</a:defRPr>
            </a:pPr>
            <a:r>
              <a:t>in Database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880360"/>
            <a:ext cx="9464040" cy="749808"/>
          </a:xfrm>
          <a:prstGeom prst="roundRect">
            <a:avLst/>
          </a:prstGeom>
          <a:solidFill>
            <a:srgbClr val="24466E"/>
          </a:solidFill>
          <a:ln w="15240">
            <a:solidFill>
              <a:srgbClr val="467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Tuple Relational Calculus (TRC)  •  Domain Relational Calculus (DRC)  •  Safety  •  Solved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D7E3F1"/>
                </a:solidFill>
              </a:defRPr>
            </a:pPr>
            <a:r>
              <a:t>Declarative foundation of relational query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D7E3F1"/>
                </a:solidFill>
              </a:defRPr>
            </a:pPr>
            <a:r>
              <a:t>DBMS Classroom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After this topic, students should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>
                <a:solidFill>
                  <a:srgbClr val="22272D"/>
                </a:solidFill>
              </a:defRPr>
            </a:pPr>
            <a:r>
              <a:t>Explain the idea of a non-procedural or declarative relational query language.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>
                <a:solidFill>
                  <a:srgbClr val="22272D"/>
                </a:solidFill>
              </a:defRPr>
            </a:pPr>
            <a:r>
              <a:t>Differentiate Relational Algebra from Relational Calculus.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>
                <a:solidFill>
                  <a:srgbClr val="22272D"/>
                </a:solidFill>
              </a:defRPr>
            </a:pPr>
            <a:r>
              <a:t>Write queries using Tuple Relational Calculus (TRC).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>
                <a:solidFill>
                  <a:srgbClr val="22272D"/>
                </a:solidFill>
              </a:defRPr>
            </a:pPr>
            <a:r>
              <a:t>Write queries using Domain Relational Calculus (DRC).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>
                <a:solidFill>
                  <a:srgbClr val="22272D"/>
                </a:solidFill>
              </a:defRPr>
            </a:pPr>
            <a:r>
              <a:t>Use existential (∃) and universal (∀) quantifiers correctly.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>
                <a:solidFill>
                  <a:srgbClr val="22272D"/>
                </a:solidFill>
              </a:defRPr>
            </a:pPr>
            <a:r>
              <a:t>Recognize unsafe expressions and explain the need for safety.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>
                <a:solidFill>
                  <a:srgbClr val="22272D"/>
                </a:solidFill>
              </a:defRPr>
            </a:pPr>
            <a:r>
              <a:t>Translate simple SQL-style requirements into TRC and DRC.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715000"/>
            <a:ext cx="10058400" cy="566928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42E4E"/>
                </a:solidFill>
              </a:defRPr>
            </a:pPr>
            <a:r>
              <a:t>Key idea: describe WHAT data is required, not the sequence of operations used to obtain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Where Relational Calculus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Relational query languages can be viewed from two complementary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34440"/>
            <a:ext cx="3749039" cy="658368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Relational Query Languages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063240" y="1892807"/>
            <a:ext cx="3017520" cy="713233"/>
          </a:xfrm>
          <a:prstGeom prst="line">
            <a:avLst/>
          </a:prstGeom>
          <a:ln w="31750">
            <a:solidFill>
              <a:srgbClr val="2D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1892807"/>
            <a:ext cx="3017520" cy="713233"/>
          </a:xfrm>
          <a:prstGeom prst="line">
            <a:avLst/>
          </a:prstGeom>
          <a:ln w="31750">
            <a:solidFill>
              <a:srgbClr val="2D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43000" y="2606040"/>
            <a:ext cx="3840480" cy="658368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42E4E"/>
                </a:solidFill>
              </a:defRPr>
            </a:pPr>
            <a:r>
              <a:t>Relational Algebra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2606040"/>
            <a:ext cx="3840480" cy="658368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42E4E"/>
                </a:solidFill>
              </a:defRPr>
            </a:pPr>
            <a:r>
              <a:t>Relational Calculus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3657600"/>
            <a:ext cx="35661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22272D"/>
                </a:solidFill>
              </a:defRPr>
            </a:pPr>
            <a:r>
              <a:t>Procedural</a:t>
            </a:r>
            <a:br/>
            <a:r>
              <a:t>Specifies operations and their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657600"/>
            <a:ext cx="35661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22272D"/>
                </a:solidFill>
              </a:defRPr>
            </a:pPr>
            <a:r>
              <a:t>Declarative</a:t>
            </a:r>
            <a:br/>
            <a:r>
              <a:t>Specifies properties of desired tuples/values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166360"/>
            <a:ext cx="8549640" cy="777240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E1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2272D"/>
                </a:solidFill>
              </a:defRPr>
            </a:pPr>
            <a:r>
              <a:t>Both are formal foundations of querying relational databases and are equivalent in expressive power for safe expressions.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What is Relational Calculus?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A declarative formal query language based on predicate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6675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Relational Calculus describes the result by stating conditions that the required tuples or attribute values must satisfy.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It does not prescribe a sequence such as select, project, then join.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The language uses predicates, logical connectives and quantifiers.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Two major forms are Tuple Relational Calculus (TRC) and Domain Relational Calculus (DRC).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17320"/>
            <a:ext cx="3566160" cy="1143000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2E4E"/>
                </a:solidFill>
              </a:defRPr>
            </a:pPr>
            <a:r>
              <a:t>TRC</a:t>
            </a:r>
            <a:br/>
            <a:r>
              <a:t>Variables represent entire tuples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880360"/>
            <a:ext cx="3566160" cy="114300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F4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2E4E"/>
                </a:solidFill>
              </a:defRPr>
            </a:pPr>
            <a:r>
              <a:t>DRC</a:t>
            </a:r>
            <a:br/>
            <a:r>
              <a:t>Variables represent individual domain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5074920"/>
            <a:ext cx="8321040" cy="713232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300" b="1">
                <a:solidFill>
                  <a:srgbClr val="142E4E"/>
                </a:solidFill>
              </a:defRPr>
            </a:pPr>
            <a:r>
              <a:t>Result = { values | condition is true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Symbols Used in Relational Calculus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Predicate logic notation used in TRC and DRC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23444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108960"/>
                <a:gridCol w="5852160"/>
              </a:tblGrid>
              <a:tr h="548640"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Symbol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Example idea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∧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AND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CSE ∧ CGPA &gt; 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∨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OR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CSE ∨ AIDS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¬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NOT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¬(Dept = 'ECE')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∃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There exists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There exists an enrollment tuple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∀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For all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For every required course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⇒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Implies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If condition P holds, then Q must hold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Equality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s.DeptID = d.DeptID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143000" y="5760720"/>
            <a:ext cx="9875520" cy="548640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E1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2272D"/>
                </a:solidFill>
              </a:defRPr>
            </a:pPr>
            <a:r>
              <a:t>Quantifiers bind variables. A variable not bound by a quantifier may be a free variable and can appear in the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Running Example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The following relations will be used throughout the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42E4E"/>
                </a:solidFill>
              </a:defRPr>
            </a:pPr>
            <a:r>
              <a:t>STUDENT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17320"/>
          <a:ext cx="48463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502920">
                <a:tc>
                  <a:txBody>
                    <a:bodyPr anchor="ctr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Dept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CGPA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8.7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Bikash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AIDS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8.1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7.5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S4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Deepak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9.0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23560" y="11155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42E4E"/>
                </a:solidFill>
              </a:defRPr>
            </a:pPr>
            <a:r>
              <a:t>COURSE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23560" y="1417320"/>
          <a:ext cx="3017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</a:tblGrid>
              <a:tr h="548640">
                <a:tc>
                  <a:txBody>
                    <a:bodyPr anchor="ctr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CourseID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Dept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ML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AIDS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869680" y="11155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42E4E"/>
                </a:solidFill>
              </a:defRPr>
            </a:pPr>
            <a:r>
              <a:t>ENROLLMENT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869680" y="1417320"/>
          <a:ext cx="27889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929640"/>
                <a:gridCol w="929640"/>
              </a:tblGrid>
              <a:tr h="419100">
                <a:tc>
                  <a:txBody>
                    <a:bodyPr anchor="ctr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CourseID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419100"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419100"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419100"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S4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 b="0">
                          <a:solidFill>
                            <a:srgbClr val="22272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051560" y="4617720"/>
            <a:ext cx="10058400" cy="749808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2272D"/>
                </a:solidFill>
              </a:defRPr>
            </a:pPr>
            <a:r>
              <a:t>Assume StudentID and CourseID act as identifiers in their respective relations. ENROLLMENT connects students and courses.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Tuple Relational Calculus (TRC)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Variables in TRC represent complete tuples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325880"/>
            <a:ext cx="4480560" cy="822960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42E4E"/>
                </a:solidFill>
              </a:defRPr>
            </a:pPr>
            <a:r>
              <a:t>{ t | P(t)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42E4E"/>
                </a:solidFill>
              </a:defRPr>
            </a:pPr>
            <a:r>
              <a:t>where: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t is a tuple variable.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P(t) is a predicate or condition that t must satisfy.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The result contains all tuples t for which P(t) evaluates to true.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Tuple attributes are referenced using notation such as t.Name, t.Dept and t.CGPA.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5440680"/>
            <a:ext cx="8503920" cy="621792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42E4E"/>
                </a:solidFill>
              </a:defRPr>
            </a:pPr>
            <a:r>
              <a:t>Think of t as one row. TRC asks: Which rows satisfy my logical condition?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TRC Example 1: Simple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Find all CSE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42E4E"/>
                </a:solidFill>
              </a:defRPr>
            </a:pPr>
            <a:r>
              <a:t>Requirement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051560"/>
            <a:ext cx="9144000" cy="56692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2272D"/>
                </a:solidFill>
              </a:defRPr>
            </a:pPr>
            <a:r>
              <a:t>Retrieve tuples of STUDENT whose Dept value is 'CSE'.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965960"/>
            <a:ext cx="9921240" cy="822960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42E4E"/>
                </a:solidFill>
              </a:defRPr>
            </a:pPr>
            <a:r>
              <a:t>{ s | s ∈ STUDENT ∧ s.Dept = 'CSE'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27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42E4E"/>
                </a:solidFill>
              </a:defRPr>
            </a:pPr>
            <a:r>
              <a:t>Result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051560" y="3474720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60960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Dept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CGPA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609600"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22272D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22272D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22272D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22272D"/>
                          </a:solidFill>
                        </a:defRPr>
                      </a:pPr>
                      <a:r>
                        <a:t>8.7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22272D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22272D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22272D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22272D"/>
                          </a:solidFill>
                        </a:defRPr>
                      </a:pPr>
                      <a:r>
                        <a:t>7.5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315200" y="3474720"/>
            <a:ext cx="3886200" cy="1600200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22272D"/>
                </a:solidFill>
              </a:defRPr>
            </a:pPr>
            <a:r>
              <a:t>s ∈ STUDENT restricts s to existing STUDENT tuples.</a:t>
            </a:r>
            <a:br/>
            <a:r>
              <a:t>The second condition keeps only CSE tuples.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TRC Example 2: Returning Selected Attributes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Find the names of students having CGPA greater than 8.5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10927080" cy="914400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2E4E"/>
                </a:solidFill>
              </a:defRPr>
            </a:pPr>
            <a:r>
              <a:t>{ t | ∃s ( s ∈ STUDENT ∧ s.CGPA &gt; 8.5 ∧ t.Name = s.Name )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51760"/>
            <a:ext cx="10241280" cy="658368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2272D"/>
                </a:solidFill>
              </a:defRPr>
            </a:pPr>
            <a:r>
              <a:t>Here s is an existing STUDENT tuple. t is the output tuple containing the required Name attribute.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97680" y="3657600"/>
          <a:ext cx="3566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</a:tblGrid>
              <a:tr h="548640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22272D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22272D"/>
                          </a:solidFill>
                        </a:defRPr>
                      </a:pPr>
                      <a:r>
                        <a:t>Deepak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3319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142E4E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TRC Example 3: Existential Quantifier (∃)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Find students who are enrolled in at least one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10972800" cy="868680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2E4E"/>
                </a:solidFill>
              </a:defRPr>
            </a:pPr>
            <a:r>
              <a:t>{ s | s ∈ STUDENT ∧ ∃e ( e ∈ ENROLLMENT ∧ e.StudentID = s.StudentID )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560320"/>
            <a:ext cx="9966960" cy="621792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2272D"/>
                </a:solidFill>
              </a:defRPr>
            </a:pPr>
            <a:r>
              <a:t>∃e means: there must exist at least one ENROLLMENT tuple e for the current student 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42E4E"/>
                </a:solidFill>
              </a:defRPr>
            </a:pPr>
            <a:r>
              <a:t>Logical reading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6400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Choose a STUDENT tuple 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Search for at least one enrollment tuple 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Keep s when e.StudentID matches s.StudentID.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931920"/>
            <a:ext cx="3383280" cy="1005840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E1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2272D"/>
                </a:solidFill>
              </a:defRPr>
            </a:pPr>
            <a:r>
              <a:t>“There exists at least one matching row.”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TRC Example 4: Query Across Multiple 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Find student names and course titles for enrolled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11201400" cy="594360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2E4E"/>
                </a:solidFill>
              </a:defRPr>
            </a:pPr>
            <a:r>
              <a:t>{ r | ∃s ∃e ∃c ( s ∈ STUDENT ∧ e ∈ ENROLLMENT ∧ c ∈ COURSE 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938528"/>
            <a:ext cx="9738360" cy="566928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2E4E"/>
                </a:solidFill>
              </a:defRPr>
            </a:pPr>
            <a:r>
              <a:t>e.StudentID = s.StudentID ∧ e.CourseID = c.CourseID 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2532888"/>
            <a:ext cx="8229600" cy="566928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2E4E"/>
                </a:solidFill>
              </a:defRPr>
            </a:pPr>
            <a:r>
              <a:t>r.Name = s.Name ∧ r.Title = c.Title ) }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14400" y="342900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365760">
                <a:tc>
                  <a:txBody>
                    <a:bodyPr anchor="ctr"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Bikash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ML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Deepak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37960" y="3703320"/>
            <a:ext cx="4572000" cy="1325880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2272D"/>
                </a:solidFill>
              </a:defRPr>
            </a:pPr>
            <a:r>
              <a:t>The equalities e.StudentID = s.StudentID and e.CourseID = c.CourseID play the role of join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TRC Example 5: Universal Quantifier (∀)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Find students who satisfy a condition for every relevant tuple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22272D"/>
                </a:solidFill>
              </a:defRPr>
            </a:pPr>
            <a:r>
              <a:t>Suppose REQUIRED(CourseID) contains all compulsory courses.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10789920" cy="658368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F4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2E4E"/>
                </a:solidFill>
              </a:defRPr>
            </a:pPr>
            <a:r>
              <a:t>{ s | s ∈ STUDENT ∧ ∀r ( r ∈ REQUIRED 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87168"/>
            <a:ext cx="10881360" cy="713232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F4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2E4E"/>
                </a:solidFill>
              </a:defRPr>
            </a:pPr>
            <a:r>
              <a:t>∃e ( e ∈ ENROLLMENT ∧ e.StudentID = s.StudentID ∧ e.CourseID = r.CourseID ) )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11880"/>
            <a:ext cx="10287000" cy="658368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2272D"/>
                </a:solidFill>
              </a:defRPr>
            </a:pPr>
            <a:r>
              <a:t>Meaning: for every compulsory course r, there exists a matching enrollment tuple for student 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4663440"/>
            <a:ext cx="8275320" cy="621792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E1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2272D"/>
                </a:solidFill>
              </a:defRPr>
            </a:pPr>
            <a:r>
              <a:t>∀ is commonly used for queries containing words such as “all”, “every”, or “each”.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Domain Relational Calculus (DRC)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Variables in DRC represent individual attribute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325880"/>
            <a:ext cx="8412480" cy="82296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F4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500" b="1">
                <a:solidFill>
                  <a:srgbClr val="142E4E"/>
                </a:solidFill>
              </a:defRPr>
            </a:pPr>
            <a:r>
              <a:t>{ ⟨x₁, x₂, …, xₙ⟩ | P(x₁, x₂, …, xₙ)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x₁, x₂, …, xₙ are domain variables representing individual values rather than full tuples.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A relation is written as a predicate, for example STUDENT(sid, name, dept, cgpa).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The result contains combinations of domain values that make the predicate 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5074920"/>
            <a:ext cx="9052560" cy="658368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42E4E"/>
                </a:solidFill>
              </a:defRPr>
            </a:pPr>
            <a:r>
              <a:t>TRC asks about rows; DRC asks about values occurring in the attributes of those rows.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DRC Example 1: Simple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Find the names of all CSE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10652760" cy="86868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F4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42E4E"/>
                </a:solidFill>
              </a:defRPr>
            </a:pPr>
            <a:r>
              <a:t>{ ⟨name⟩ | ∃sid ∃cgpa ( STUDENT(sid, name, 'CSE', cgpa) )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51760"/>
            <a:ext cx="10241280" cy="822960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2272D"/>
                </a:solidFill>
              </a:defRPr>
            </a:pPr>
            <a:r>
              <a:t>The output variable is name. Other required values are existentially quantified because they are needed only to establish that a matching tuple exists.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06240" y="3886200"/>
          <a:ext cx="374903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</a:tblGrid>
              <a:tr h="518160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518160"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22272D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22272D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DRC Example 2: Query Across 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Find student names and course titles for enrolled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11201400" cy="566928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F4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42E4E"/>
                </a:solidFill>
              </a:defRPr>
            </a:pPr>
            <a:r>
              <a:t>{ ⟨name, title⟩ | ∃sid ∃dept ∃cgpa ∃cid ∃grade ∃cdept (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10789920" cy="566928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F4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42E4E"/>
                </a:solidFill>
              </a:defRPr>
            </a:pPr>
            <a:r>
              <a:t>STUDENT(sid, name, dept, cgpa) ∧ ENROLLMENT(sid, cid, grade) 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423160"/>
            <a:ext cx="7589520" cy="566928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F4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2E4E"/>
                </a:solidFill>
              </a:defRPr>
            </a:pPr>
            <a:r>
              <a:t>COURSE(cid, title, cdept) ) }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14400" y="3337560"/>
          <a:ext cx="51206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358140">
                <a:tc>
                  <a:txBody>
                    <a:bodyPr anchor="ctr"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358140"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358140"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Bikash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ML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358140"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Deepak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50" b="0">
                          <a:solidFill>
                            <a:srgbClr val="22272D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0" y="3657600"/>
            <a:ext cx="4480560" cy="1325880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2272D"/>
                </a:solidFill>
              </a:defRPr>
            </a:pPr>
            <a:r>
              <a:t>The same sid and cid variables occur in multiple predicates. This equality of variables connects the relations.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TRC vs DRC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Both are declarative, but the type of variable is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234440"/>
          <a:ext cx="10927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4526280"/>
              </a:tblGrid>
              <a:tr h="685800"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TRC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DRC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68580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Variable represents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Entire tuple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Individual domain value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Typical form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{ t | P(t) }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{ ⟨x₁,…,xₙ⟩ | P(...) }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Attribute access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t.Name, t.Dept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Variables appear by position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Relation membership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t ∈ STUDENT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STUDENT(sid,name,dept,cgpa)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Best mental model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Reason about rows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Reason about values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103120" y="5623560"/>
            <a:ext cx="8001000" cy="548640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42E4E"/>
                </a:solidFill>
              </a:defRPr>
            </a:pPr>
            <a:r>
              <a:t>The same query can generally be expressed in either TRC or DRC.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Safe and Unsafe Relational Calculus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Why unrestricted calculus can produce undesirable infinite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234440"/>
            <a:ext cx="4892040" cy="566928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2E4E"/>
                </a:solidFill>
              </a:defRPr>
            </a:pPr>
            <a:r>
              <a:t>Safe Expression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234440"/>
            <a:ext cx="4892040" cy="566928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E1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2272D"/>
                </a:solidFill>
              </a:defRPr>
            </a:pPr>
            <a:r>
              <a:t>Unsafe Expression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4983480" cy="731520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2E4E"/>
                </a:solidFill>
              </a:defRPr>
            </a:pPr>
            <a:r>
              <a:t>{ s | s ∈ STUDENT ∧ s.Dept='CSE'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4983480" cy="731520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E1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42E4E"/>
                </a:solidFill>
              </a:defRPr>
            </a:pPr>
            <a:r>
              <a:t>{ t | ¬(t ∈ STUDENT)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22272D"/>
                </a:solidFill>
              </a:defRPr>
            </a:pPr>
            <a:r>
              <a:t>Produces only tuples derived from values occurring in the database.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663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22272D"/>
                </a:solidFill>
              </a:defRPr>
            </a:pPr>
            <a:r>
              <a:t>Could describe every tuple not present in STUDENT, potentially drawing values from an unbounded universe.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4800600"/>
            <a:ext cx="9098280" cy="685800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2E4E"/>
                </a:solidFill>
              </a:defRPr>
            </a:pPr>
            <a:r>
              <a:t>Safety ensures a finite result that is based on the active domain of the database.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Relational Algebra vs Relational Calculus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Procedural and declarative views of the same relational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51960"/>
                <a:gridCol w="4617720"/>
              </a:tblGrid>
              <a:tr h="716280"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Relational Algebra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Relational Calculus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71628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Procedural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Declarative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How to obtain result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What result must satisfy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71628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Basic tools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σ, π, ⋈, ∪, −, ×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Predicates, ∧, ∨, ¬, ∃, ∀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Variables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Not central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Tuple or domain variables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716280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Safe expressive power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Equivalent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22272D"/>
                          </a:solidFill>
                        </a:defRPr>
                      </a:pPr>
                      <a:r>
                        <a:t>Equivalent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5623560"/>
            <a:ext cx="2926080" cy="475488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Example requirement: Find CSE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5623560"/>
            <a:ext cx="3383280" cy="475488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2E4E"/>
                </a:solidFill>
              </a:defRPr>
            </a:pPr>
            <a:r>
              <a:t>RA: σ Dept='CSE' (STUDENT)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5623560"/>
            <a:ext cx="3840480" cy="475488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E4E"/>
                </a:solidFill>
              </a:defRPr>
            </a:pPr>
            <a:r>
              <a:t>TRC: { s | s∈STUDENT ∧ s.Dept='CSE' 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Relational Calculus and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SQL is declarative and is conceptually close to relational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42E4E"/>
                </a:solidFill>
              </a:defRPr>
            </a:pPr>
            <a:r>
              <a:t>Requirement: Find names of CSE students with CGPA &gt; 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1051560" cy="457200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31720"/>
            <a:ext cx="4983480" cy="1920240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0">
                <a:solidFill>
                  <a:srgbClr val="22272D"/>
                </a:solidFill>
              </a:defRPr>
            </a:pPr>
            <a:r>
              <a:t>SELECT Name</a:t>
            </a:r>
            <a:br/>
            <a:r>
              <a:t>FROM STUDENT</a:t>
            </a:r>
            <a:br/>
            <a:r>
              <a:t>WHERE Dept = 'CSE' AND CGPA &gt; 8;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1051560" cy="457200"/>
          </a:xfrm>
          <a:prstGeom prst="roundRect">
            <a:avLst/>
          </a:prstGeom>
          <a:solidFill>
            <a:srgbClr val="1F8576"/>
          </a:solidFill>
          <a:ln w="15240">
            <a:solidFill>
              <a:srgbClr val="1F8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331720"/>
            <a:ext cx="5120640" cy="1920240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42E4E"/>
                </a:solidFill>
              </a:defRPr>
            </a:pPr>
            <a:r>
              <a:t>{ t | ∃s ( s∈STUDENT ∧ s.Dept='CSE' ∧ s.CGPA&gt;8 ∧ t.Name=s.Name )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4937760"/>
            <a:ext cx="8138160" cy="658368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E1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2272D"/>
                </a:solidFill>
              </a:defRPr>
            </a:pPr>
            <a:r>
              <a:t>Both describe the desired result; the DBMS chooses an execution plan internally.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How to Write a Relational Calculus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A classroom-friendly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43000"/>
            <a:ext cx="548640" cy="530352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1612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42E4E"/>
                </a:solidFill>
              </a:defRPr>
            </a:pPr>
            <a:r>
              <a:t>Identify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16128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2272D"/>
                </a:solidFill>
              </a:defRPr>
            </a:pPr>
            <a:r>
              <a:t>Which attributes or tuples must appear in the answer?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84248"/>
            <a:ext cx="548640" cy="530352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0025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42E4E"/>
                </a:solidFill>
              </a:defRPr>
            </a:pPr>
            <a:r>
              <a:t>Identify 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00253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2272D"/>
                </a:solidFill>
              </a:defRPr>
            </a:pPr>
            <a:r>
              <a:t>Which relations contain the required information?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25496"/>
            <a:ext cx="548640" cy="530352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8437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42E4E"/>
                </a:solidFill>
              </a:defRPr>
            </a:pPr>
            <a:r>
              <a:t>Introduce 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84378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2272D"/>
                </a:solidFill>
              </a:defRPr>
            </a:pPr>
            <a:r>
              <a:t>Tuple variables for TRC or domain variables for DRC.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66744"/>
            <a:ext cx="548640" cy="530352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6850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42E4E"/>
                </a:solidFill>
              </a:defRPr>
            </a:pPr>
            <a:r>
              <a:t>Connect relations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685031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2272D"/>
                </a:solidFill>
              </a:defRPr>
            </a:pPr>
            <a:r>
              <a:t>Use equality conditions or shared variables.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07992"/>
            <a:ext cx="548640" cy="530352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5262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42E4E"/>
                </a:solidFill>
              </a:defRPr>
            </a:pPr>
            <a:r>
              <a:t>Apply 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52627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2272D"/>
                </a:solidFill>
              </a:defRPr>
            </a:pPr>
            <a:r>
              <a:t>Translate words such as AND, OR, at least one, every.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49240"/>
            <a:ext cx="548640" cy="530352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67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42E4E"/>
                </a:solidFill>
              </a:defRPr>
            </a:pPr>
            <a:r>
              <a:t>Check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367527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2272D"/>
                </a:solidFill>
              </a:defRPr>
            </a:pPr>
            <a:r>
              <a:t>Ensure output values come from the database's active domain.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Worked Problem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Find the names of students enrolled in the DBMS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42E4E"/>
                </a:solidFill>
              </a:defRPr>
            </a:pPr>
            <a:r>
              <a:t>Step 1: We need STUDENT, ENROLLMENT and COURSE.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22272D"/>
                </a:solidFill>
              </a:defRPr>
            </a:pPr>
            <a:r>
              <a:t>Step 2: Match StudentID and CourseID, then require Title = 'DBMS'.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11155680" cy="548640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42E4E"/>
                </a:solidFill>
              </a:defRPr>
            </a:pPr>
            <a:r>
              <a:t>TRC: { t | ∃s ∃e ∃c ( s∈STUDENT ∧ e∈ENROLLMENT ∧ c∈COURSE 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24912"/>
            <a:ext cx="11155680" cy="621792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42E4E"/>
                </a:solidFill>
              </a:defRPr>
            </a:pPr>
            <a:r>
              <a:t>e.StudentID=s.StudentID ∧ e.CourseID=c.CourseID ∧ c.Title='DBMS' ∧ t.Name=s.Name ) 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10881360" cy="54864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F4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42E4E"/>
                </a:solidFill>
              </a:defRPr>
            </a:pPr>
            <a:r>
              <a:t>DRC: { ⟨name⟩ | ∃sid ∃dept ∃cgpa ∃cid ∃grade ∃cdept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87952"/>
            <a:ext cx="10881360" cy="621792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F4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42E4E"/>
                </a:solidFill>
              </a:defRPr>
            </a:pPr>
            <a:r>
              <a:t>( STUDENT(sid,name,dept,cgpa) ∧ ENROLLMENT(sid,cid,grade) ∧ COURSE(cid,'DBMS',cdept) ) }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60520" y="5074920"/>
          <a:ext cx="384048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</a:tblGrid>
              <a:tr h="350520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350520"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22272D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22272D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Worked Problem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Find students who are not enrolled in any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10881360" cy="868680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42E4E"/>
                </a:solidFill>
              </a:defRPr>
            </a:pPr>
            <a:r>
              <a:t>{ s | s∈STUDENT ∧ ¬∃e ( e∈ENROLLMENT ∧ e.StudentID=s.StudentID )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97480"/>
            <a:ext cx="1554480" cy="457200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9875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s must be a valid STUDENT tuple.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There must not exist any ENROLLMENT tuple whose StudentID matches s.StudentID.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The negation is applied to the existential statement.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5166360"/>
            <a:ext cx="6217920" cy="621792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E1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272D"/>
                </a:solidFill>
              </a:defRPr>
            </a:pPr>
            <a:r>
              <a:t>Common pattern for “not exists” queries: ¬∃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Practice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Write both TRC and DRC 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1. Find the names of all AIDS students.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2. Find StudentID and Name of students with CGPA ≥ 8.5.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3. Find names of students who received grade A in any course.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4. Find names of students enrolled in OS.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5. Find CourseID and Title of courses offered by the CSE department.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6. Find students who are not enrolled in DBMS.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7. Find students who are enrolled in at least one CSE course.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2272D"/>
                </a:solidFill>
              </a:defRPr>
            </a:pPr>
            <a:r>
              <a:t>8. Find students enrolled in every course listed in REQUIRED(CourseID).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Practice Solutions: 1 to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One possible TRC formulation for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70432"/>
            <a:ext cx="502920" cy="502920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1124712"/>
            <a:ext cx="10195560" cy="713232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50" b="0">
                <a:solidFill>
                  <a:srgbClr val="22272D"/>
                </a:solidFill>
              </a:defRPr>
            </a:pPr>
            <a:r>
              <a:t>{ t | ∃s (s∈STUDENT ∧ s.Dept='AIDS' ∧ t.Name=s.Name)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86584"/>
            <a:ext cx="502920" cy="502920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2340864"/>
            <a:ext cx="10195560" cy="713232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50" b="0">
                <a:solidFill>
                  <a:srgbClr val="22272D"/>
                </a:solidFill>
              </a:defRPr>
            </a:pPr>
            <a:r>
              <a:t>{ t | ∃s (s∈STUDENT ∧ s.CGPA≥8.5 ∧ t.StudentID=s.StudentID ∧ t.Name=s.Name) 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02736"/>
            <a:ext cx="502920" cy="502920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3557016"/>
            <a:ext cx="10195560" cy="713232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50" b="0">
                <a:solidFill>
                  <a:srgbClr val="22272D"/>
                </a:solidFill>
              </a:defRPr>
            </a:pPr>
            <a:r>
              <a:t>{ t | ∃s∃e (s∈STUDENT ∧ e∈ENROLLMENT ∧ e.StudentID=s.StudentID ∧ e.Grade='A' ∧ t.Name=s.Name)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818888"/>
            <a:ext cx="502920" cy="502920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4773168"/>
            <a:ext cx="10195560" cy="713232"/>
          </a:xfrm>
          <a:prstGeom prst="roundRect">
            <a:avLst/>
          </a:prstGeom>
          <a:solidFill>
            <a:srgbClr val="E7F0FC"/>
          </a:solidFill>
          <a:ln w="15240"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50" b="0">
                <a:solidFill>
                  <a:srgbClr val="22272D"/>
                </a:solidFill>
              </a:defRPr>
            </a:pPr>
            <a:r>
              <a:t>{ t | ∃s∃e∃c (s∈STUDENT ∧ e∈ENROLLMENT ∧ c∈COURSE ∧ e.StudentID=s.StudentID ∧ e.CourseID=c.CourseID ∧ c.Title='OS' ∧ t.Name=s.Name) 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Common Mistakes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Typical errors when students write relational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Forgetting to restrict tuple variables using membership conditions such as s ∈ STUDENT.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Using an output variable without connecting it to a relation variable.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Confusing ∃ (at least one) with ∀ (every).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Forgetting join conditions when multiple relations are used.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Applying negation to the wrong part of the expression.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Producing attributes that are not range-restricted, which can make an expression unsafe.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2272D"/>
                </a:solidFill>
              </a:defRPr>
            </a:pPr>
            <a:r>
              <a:t>Treating TRC and DRC notation as identical.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623560"/>
            <a:ext cx="9875520" cy="566928"/>
          </a:xfrm>
          <a:prstGeom prst="roundRect">
            <a:avLst/>
          </a:prstGeom>
          <a:solidFill>
            <a:srgbClr val="E9F7EF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42E4E"/>
                </a:solidFill>
              </a:defRPr>
            </a:pPr>
            <a:r>
              <a:t>Best checking question: Can every output value be traced back to a value stored in the database?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Relational Calculus in one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51560" y="1234440"/>
          <a:ext cx="100584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7223760"/>
              </a:tblGrid>
              <a:tr h="554355">
                <a:tc>
                  <a:txBody>
                    <a:bodyPr anchor="ctr"/>
                    <a:lstStyle/>
                    <a:p>
                      <a:pPr algn="ctr">
                        <a:defRPr sz="1450" b="1">
                          <a:solidFill>
                            <a:srgbClr val="FFFFFF"/>
                          </a:solidFill>
                        </a:defRPr>
                      </a:pPr>
                      <a:r>
                        <a:t>Concept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1">
                          <a:solidFill>
                            <a:srgbClr val="FFFFFF"/>
                          </a:solidFill>
                        </a:defRPr>
                      </a:pPr>
                      <a:r>
                        <a:t>Key Point</a:t>
                      </a:r>
                    </a:p>
                  </a:txBody>
                  <a:tcPr marL="36576" marR="36576" marT="18288" marB="18288">
                    <a:solidFill>
                      <a:srgbClr val="142E4E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Relational Calculus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Declarative formal query language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TRC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Variables represent tuples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DRC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Variables represent domain values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∃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At least one matching value/tuple exists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∀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Condition holds for every relevant value/tuple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Safety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Ensures finite results from the active domain</a:t>
                      </a:r>
                    </a:p>
                  </a:txBody>
                  <a:tcPr marL="36576" marR="36576" marT="18288" marB="18288">
                    <a:solidFill>
                      <a:srgbClr val="F6F8FB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Relationship to RA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0">
                          <a:solidFill>
                            <a:srgbClr val="22272D"/>
                          </a:solidFill>
                        </a:defRPr>
                      </a:pPr>
                      <a:r>
                        <a:t>Equivalent expressive power for safe queries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148840" y="5806440"/>
            <a:ext cx="7909560" cy="530352"/>
          </a:xfrm>
          <a:prstGeom prst="roundRect">
            <a:avLst/>
          </a:prstGeom>
          <a:solidFill>
            <a:srgbClr val="142E4E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Relational Algebra says HOW. Relational Calculus says WHAT.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Viva and Examination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86069"/>
                </a:solidFill>
              </a:defRPr>
            </a:pPr>
            <a:r>
              <a:t>Useful for classroom interaction and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28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Database Engineering | Relational Calculus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2272D"/>
                </a:solidFill>
              </a:defRPr>
            </a:pPr>
            <a:r>
              <a:t>1. Define Relational Calculus. Why is it called non-procedural?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2272D"/>
                </a:solidFill>
              </a:defRPr>
            </a:pPr>
            <a:r>
              <a:t>2. Differentiate TRC and DRC with one example each.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2272D"/>
                </a:solidFill>
              </a:defRPr>
            </a:pPr>
            <a:r>
              <a:t>3. Explain free and bound variables.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2272D"/>
                </a:solidFill>
              </a:defRPr>
            </a:pPr>
            <a:r>
              <a:t>4. What is the role of existential and universal quantifiers?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2272D"/>
                </a:solidFill>
              </a:defRPr>
            </a:pPr>
            <a:r>
              <a:t>5. What is a safe relational calculus expression?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2272D"/>
                </a:solidFill>
              </a:defRPr>
            </a:pPr>
            <a:r>
              <a:t>6. Why are unsafe expressions undesirable?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2272D"/>
                </a:solidFill>
              </a:defRPr>
            </a:pPr>
            <a:r>
              <a:t>7. Compare Relational Algebra and Relational Calculus.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2272D"/>
                </a:solidFill>
              </a:defRPr>
            </a:pPr>
            <a:r>
              <a:t>8. Write a TRC query to find employees belonging to department D1.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2272D"/>
                </a:solidFill>
              </a:defRPr>
            </a:pPr>
            <a:r>
              <a:t>9. Write a DRC query to retrieve names of students with CGPA above 8.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2272D"/>
                </a:solidFill>
              </a:defRPr>
            </a:pPr>
            <a:r>
              <a:t>10. Explain how SQL relates to relational calculus.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