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 Engineering • Unit V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0" y="6510528"/>
            <a:ext cx="5349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 Management &amp; Serializability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0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0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9601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50" kern="0" dirty="0">
                <a:solidFill>
                  <a:srgbClr val="2F75B5"/>
                </a:solidFill>
              </a:rPr>
              <a:t>DATABASE ENGINEERING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58368" y="1417320"/>
            <a:ext cx="6675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E78"/>
                </a:solidFill>
              </a:rPr>
              <a:t>Unit V: Transaction Management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F4E78"/>
                </a:solidFill>
              </a:rPr>
              <a:t>and Serializability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278892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774"/>
                </a:solidFill>
              </a:rPr>
              <a:t>Concepts • Schedules • Concurrency Problems • Conflict &amp; View Serializability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818120" y="1005840"/>
            <a:ext cx="3566160" cy="3337560"/>
          </a:xfrm>
          <a:prstGeom prst="roundRect">
            <a:avLst/>
          </a:prstGeom>
          <a:solidFill>
            <a:srgbClr val="EAF1F8"/>
          </a:solidFill>
          <a:ln w="12700">
            <a:solidFill>
              <a:srgbClr val="D4E1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21040" y="15087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75B5"/>
                </a:solidFill>
              </a:rPr>
              <a:t>T₁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183880" y="1965960"/>
            <a:ext cx="123444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313F"/>
                </a:solidFill>
              </a:rPr>
              <a:t>R(X)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3313F"/>
                </a:solidFill>
              </a:rPr>
              <a:t>X = X − 100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3313F"/>
                </a:solidFill>
              </a:rPr>
              <a:t>W(X)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104120" y="150876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9D8F"/>
                </a:solidFill>
              </a:rPr>
              <a:t>T₂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9966960" y="1965960"/>
            <a:ext cx="123444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313F"/>
                </a:solidFill>
              </a:rPr>
              <a:t>R(X)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3313F"/>
                </a:solidFill>
              </a:rPr>
              <a:t>X = X + 50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23313F"/>
                </a:solidFill>
              </a:rPr>
              <a:t>W(X)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308592" y="3611880"/>
            <a:ext cx="795528" cy="0"/>
          </a:xfrm>
          <a:prstGeom prst="line">
            <a:avLst/>
          </a:prstGeom>
          <a:noFill/>
          <a:ln w="25400">
            <a:solidFill>
              <a:srgbClr val="C75146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8119872" y="373075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75146"/>
                </a:solidFill>
              </a:rPr>
              <a:t>Can interleaving preserve correctness?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4754880"/>
            <a:ext cx="3108960" cy="475488"/>
          </a:xfrm>
          <a:prstGeom prst="rect">
            <a:avLst/>
          </a:prstGeom>
          <a:solidFill>
            <a:srgbClr val="1F4E78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Up to Serializability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94944" y="541324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4"/>
                </a:solidFill>
              </a:rPr>
              <a:t>Classroom-ready notes with solved examples and practice problems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0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Outcomes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774"/>
                </a:solidFill>
              </a:rPr>
              <a:t>By the end of this unit, students should be able to: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338328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8D3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73152" cy="1920240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44475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13F"/>
                </a:solidFill>
              </a:rPr>
              <a:t>1. Explain Transactions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41248" y="1783080"/>
            <a:ext cx="3035808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Define a transaction, identify transaction states, and explain ACID properties.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407408" y="1325880"/>
            <a:ext cx="338328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8D3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07408" y="1325880"/>
            <a:ext cx="73152" cy="19202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08576" y="144475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13F"/>
                </a:solidFill>
              </a:rPr>
              <a:t>2. Analyze Schedules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08576" y="1783080"/>
            <a:ext cx="3035808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Differentiate serial and non-serial schedules and identify concurrency anomalies.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74736" y="1325880"/>
            <a:ext cx="338328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8D3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74736" y="1325880"/>
            <a:ext cx="73152" cy="192024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75904" y="144475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13F"/>
                </a:solidFill>
              </a:rPr>
              <a:t>3. Test Serializability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75904" y="1783080"/>
            <a:ext cx="3035808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Use conflicting operations and precedence graphs to test conflict serializability.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2514600" y="3703320"/>
            <a:ext cx="338328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8D3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14600" y="3703320"/>
            <a:ext cx="73152" cy="1920240"/>
          </a:xfrm>
          <a:prstGeom prst="rect">
            <a:avLst/>
          </a:prstGeom>
          <a:solidFill>
            <a:srgbClr val="C75146"/>
          </a:solidFill>
          <a:ln w="12700">
            <a:solidFill>
              <a:srgbClr val="C751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15768" y="382219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13F"/>
                </a:solidFill>
              </a:rPr>
              <a:t>4. Check View Equivalence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2715768" y="4160520"/>
            <a:ext cx="3035808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Understand read-from and final-write conditions used in view serializability.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291072" y="3703320"/>
            <a:ext cx="338328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8D3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91072" y="3703320"/>
            <a:ext cx="73152" cy="1920240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382219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13F"/>
                </a:solidFill>
              </a:rPr>
              <a:t>5. Solve Exam Problems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92240" y="4160520"/>
            <a:ext cx="3035808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Construct schedules, draw serialization graphs, and justify answers step by step.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0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a Transaction?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774"/>
                </a:solidFill>
              </a:rPr>
              <a:t>A transaction is a logical unit of database work.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58368" y="12344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3313F"/>
                </a:solidFill>
              </a:rPr>
              <a:t>A transaction contains one or more database operations that together perform a meaningful task.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4846320" cy="315468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C8D3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965960"/>
            <a:ext cx="73152" cy="3154680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208483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13F"/>
                </a:solidFill>
              </a:rPr>
              <a:t>Example: Bank Transfer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86968" y="2423160"/>
            <a:ext cx="4498848" cy="2587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Transfer ₹1,000 from account A to account B.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1. Read(A)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2. A = A − 1000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3. Write(A)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4. Read(B)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5. B = B + 1000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6. Write(B)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7. COMMIT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897880" y="2852928"/>
            <a:ext cx="960120" cy="731520"/>
          </a:xfrm>
          <a:prstGeom prst="chevron">
            <a:avLst/>
          </a:prstGeom>
          <a:solidFill>
            <a:srgbClr val="EAF1F8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86600" y="1965960"/>
            <a:ext cx="4251960" cy="3154680"/>
          </a:xfrm>
          <a:prstGeom prst="roundRect">
            <a:avLst>
              <a:gd name="adj" fmla="val 1739"/>
            </a:avLst>
          </a:prstGeom>
          <a:solidFill>
            <a:srgbClr val="E8F4EF"/>
          </a:solidFill>
          <a:ln w="12700">
            <a:solidFill>
              <a:srgbClr val="C8D3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86600" y="1965960"/>
            <a:ext cx="73152" cy="31546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87768" y="20848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13F"/>
                </a:solidFill>
              </a:rPr>
              <a:t>Goal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287768" y="2423160"/>
            <a:ext cx="3904488" cy="2587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Either the entire transfer should succeed, or none of it should be reflected in the database.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This all-or-nothing behavior is the foundation of transaction processing.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005840" y="5440680"/>
            <a:ext cx="914400" cy="347472"/>
          </a:xfrm>
          <a:prstGeom prst="round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5513832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75B5"/>
                </a:solidFill>
              </a:rPr>
              <a:t>BEGIN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148840" y="5440680"/>
            <a:ext cx="1508760" cy="347472"/>
          </a:xfrm>
          <a:prstGeom prst="round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21992" y="5513832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75B5"/>
                </a:solidFill>
              </a:rPr>
              <a:t>READ / WRITE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886200" y="5440680"/>
            <a:ext cx="1965960" cy="347472"/>
          </a:xfrm>
          <a:prstGeom prst="roundRect">
            <a:avLst/>
          </a:prstGeom>
          <a:solidFill>
            <a:srgbClr val="EAF1F8"/>
          </a:solidFill>
          <a:ln w="12700">
            <a:solidFill>
              <a:srgbClr val="EAF1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59352" y="5513832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75B5"/>
                </a:solidFill>
              </a:rPr>
              <a:t>COMMIT / ROLLBACK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0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Basic Transaction Operations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325880"/>
          <a:ext cx="10607040" cy="2971800"/>
        </p:xfrm>
        <a:graphic>
          <a:graphicData uri="http://schemas.openxmlformats.org/drawingml/2006/table">
            <a:tbl>
              <a:tblPr/>
              <a:tblGrid>
                <a:gridCol w="2103120"/>
                <a:gridCol w="5669280"/>
                <a:gridCol w="28346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Operation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Meaning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Example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Read(X)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Copy database item X into a local transaction variable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R₁(X)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Write(X)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Copy the local value back to database item X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W₁(X)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Commit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Make transaction changes permanent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C₁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Abort / Rollback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Cancel transaction and restore previous consistent state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A₁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77240" y="1325880"/>
            <a:ext cx="2103120" cy="384048"/>
          </a:xfrm>
          <a:prstGeom prst="rect">
            <a:avLst/>
          </a:prstGeom>
          <a:solidFill>
            <a:srgbClr val="EAF1F8"/>
          </a:solidFill>
          <a:ln w="12700">
            <a:solidFill>
              <a:srgbClr val="AAB7C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04672" y="1399032"/>
            <a:ext cx="2048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8"/>
                </a:solidFill>
              </a:rPr>
              <a:t>Operation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880360" y="1325880"/>
            <a:ext cx="5669280" cy="384048"/>
          </a:xfrm>
          <a:prstGeom prst="rect">
            <a:avLst/>
          </a:prstGeom>
          <a:solidFill>
            <a:srgbClr val="EAF1F8"/>
          </a:solidFill>
          <a:ln w="12700">
            <a:solidFill>
              <a:srgbClr val="AAB7C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907792" y="1399032"/>
            <a:ext cx="56144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8"/>
                </a:solidFill>
              </a:rPr>
              <a:t>Meaning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549640" y="1325880"/>
            <a:ext cx="2834640" cy="384048"/>
          </a:xfrm>
          <a:prstGeom prst="rect">
            <a:avLst/>
          </a:prstGeom>
          <a:solidFill>
            <a:srgbClr val="EAF1F8"/>
          </a:solidFill>
          <a:ln w="12700">
            <a:solidFill>
              <a:srgbClr val="AAB7C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77072" y="1399032"/>
            <a:ext cx="27797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8"/>
                </a:solidFill>
              </a:rPr>
              <a:t>Example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4572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8"/>
                </a:solidFill>
              </a:rPr>
              <a:t>Notation Example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22960" y="5029200"/>
            <a:ext cx="7863840" cy="502920"/>
          </a:xfrm>
          <a:prstGeom prst="rect">
            <a:avLst/>
          </a:prstGeom>
          <a:solidFill>
            <a:srgbClr val="EAF1F8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3313F"/>
                </a:solidFill>
              </a:rPr>
              <a:t>R₁(A) → W₁(A) → R₁(B) → W₁(B) → C₁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8961120" y="5074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774"/>
                </a:solidFill>
              </a:rPr>
              <a:t>Subscript identifies the transaction.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0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ACID Properties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774"/>
                </a:solidFill>
              </a:rPr>
              <a:t>The four properties that make transactions reliable.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2606040" cy="1965960"/>
          </a:xfrm>
          <a:prstGeom prst="roundRect">
            <a:avLst>
              <a:gd name="adj" fmla="val 2791"/>
            </a:avLst>
          </a:prstGeom>
          <a:solidFill>
            <a:srgbClr val="FBEDEE"/>
          </a:solidFill>
          <a:ln w="12700">
            <a:solidFill>
              <a:srgbClr val="C8D3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25880"/>
            <a:ext cx="73152" cy="1965960"/>
          </a:xfrm>
          <a:prstGeom prst="rect">
            <a:avLst/>
          </a:prstGeom>
          <a:solidFill>
            <a:srgbClr val="C75146"/>
          </a:solidFill>
          <a:ln w="12700">
            <a:solidFill>
              <a:srgbClr val="C751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4447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13F"/>
                </a:solidFill>
              </a:rPr>
              <a:t>A • Atomicity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95528" y="1783080"/>
            <a:ext cx="2258568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All operations occur completely or none occur.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Failure → rollback.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310128" y="1325880"/>
            <a:ext cx="2606040" cy="1965960"/>
          </a:xfrm>
          <a:prstGeom prst="roundRect">
            <a:avLst>
              <a:gd name="adj" fmla="val 2791"/>
            </a:avLst>
          </a:prstGeom>
          <a:solidFill>
            <a:srgbClr val="FFF6DD"/>
          </a:solidFill>
          <a:ln w="12700">
            <a:solidFill>
              <a:srgbClr val="C8D3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10128" y="1325880"/>
            <a:ext cx="73152" cy="1965960"/>
          </a:xfrm>
          <a:prstGeom prst="rect">
            <a:avLst/>
          </a:prstGeom>
          <a:solidFill>
            <a:srgbClr val="B58900"/>
          </a:solidFill>
          <a:ln w="12700">
            <a:solidFill>
              <a:srgbClr val="B589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11296" y="14447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13F"/>
                </a:solidFill>
              </a:rPr>
              <a:t>C • Consistency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511296" y="1783080"/>
            <a:ext cx="2258568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A transaction takes the database from one valid state to another valid state.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025896" y="1325880"/>
            <a:ext cx="2606040" cy="1965960"/>
          </a:xfrm>
          <a:prstGeom prst="roundRect">
            <a:avLst>
              <a:gd name="adj" fmla="val 2791"/>
            </a:avLst>
          </a:prstGeom>
          <a:solidFill>
            <a:srgbClr val="EAF1F8"/>
          </a:solidFill>
          <a:ln w="12700">
            <a:solidFill>
              <a:srgbClr val="C8D3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25896" y="1325880"/>
            <a:ext cx="73152" cy="1965960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27064" y="14447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13F"/>
                </a:solidFill>
              </a:rPr>
              <a:t>I • Isolation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227064" y="1783080"/>
            <a:ext cx="2258568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Concurrent transactions should behave as if executed independently.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741664" y="1325880"/>
            <a:ext cx="2606040" cy="1965960"/>
          </a:xfrm>
          <a:prstGeom prst="roundRect">
            <a:avLst>
              <a:gd name="adj" fmla="val 2791"/>
            </a:avLst>
          </a:prstGeom>
          <a:solidFill>
            <a:srgbClr val="E8F4EF"/>
          </a:solidFill>
          <a:ln w="12700">
            <a:solidFill>
              <a:srgbClr val="C8D3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41664" y="1325880"/>
            <a:ext cx="73152" cy="19659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42832" y="14447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13F"/>
                </a:solidFill>
              </a:rPr>
              <a:t>D • Durability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942832" y="1783080"/>
            <a:ext cx="2258568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After COMMIT, changes survive failures such as power loss or crash.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8580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8"/>
                </a:solidFill>
              </a:rPr>
              <a:t>Memory Rule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" y="4480560"/>
            <a:ext cx="1074420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3313F"/>
                </a:solidFill>
              </a:rPr>
              <a:t>Atomicity = All or nothing   •   Consistency = Rules preserved   •   Isolation = Safe concurrency   •   Durability = Permanent after commit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0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Transaction States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774"/>
                </a:solidFill>
              </a:rPr>
              <a:t>Typical life cycle of a transaction.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2560320"/>
            <a:ext cx="713232" cy="713232"/>
          </a:xfrm>
          <a:prstGeom prst="ellipse">
            <a:avLst/>
          </a:prstGeom>
          <a:solidFill>
            <a:srgbClr val="EAF1F8"/>
          </a:solidFill>
          <a:ln w="20320">
            <a:solidFill>
              <a:srgbClr val="2F75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77063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313F"/>
                </a:solidFill>
              </a:rPr>
              <a:t>Active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017520" y="2423160"/>
            <a:ext cx="713232" cy="713232"/>
          </a:xfrm>
          <a:prstGeom prst="ellipse">
            <a:avLst/>
          </a:prstGeom>
          <a:solidFill>
            <a:srgbClr val="FFF6DD"/>
          </a:solidFill>
          <a:ln w="20320">
            <a:solidFill>
              <a:srgbClr val="2F75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0" y="263347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313F"/>
                </a:solidFill>
              </a:rPr>
              <a:t>Partially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3313F"/>
                </a:solidFill>
              </a:rPr>
              <a:t>Committed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0" y="1280160"/>
            <a:ext cx="713232" cy="713232"/>
          </a:xfrm>
          <a:prstGeom prst="ellipse">
            <a:avLst/>
          </a:prstGeom>
          <a:solidFill>
            <a:srgbClr val="E8F4EF"/>
          </a:solidFill>
          <a:ln w="20320">
            <a:solidFill>
              <a:srgbClr val="2F75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0" y="149047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313F"/>
                </a:solidFill>
              </a:rPr>
              <a:t>Committed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669280" y="3749040"/>
            <a:ext cx="713232" cy="713232"/>
          </a:xfrm>
          <a:prstGeom prst="ellipse">
            <a:avLst/>
          </a:prstGeom>
          <a:solidFill>
            <a:srgbClr val="FBEDEE"/>
          </a:solidFill>
          <a:ln w="20320">
            <a:solidFill>
              <a:srgbClr val="2F75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395935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313F"/>
                </a:solidFill>
              </a:rPr>
              <a:t>Failed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366760" y="3749040"/>
            <a:ext cx="713232" cy="713232"/>
          </a:xfrm>
          <a:prstGeom prst="ellipse">
            <a:avLst/>
          </a:prstGeom>
          <a:solidFill>
            <a:srgbClr val="F3F0FA"/>
          </a:solidFill>
          <a:ln w="20320">
            <a:solidFill>
              <a:srgbClr val="2F75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6760" y="395935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313F"/>
                </a:solidFill>
              </a:rPr>
              <a:t>Aborted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378440" y="2514600"/>
            <a:ext cx="713232" cy="71323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2F75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378440" y="272491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313F"/>
                </a:solidFill>
              </a:rPr>
              <a:t>Terminated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444752" y="2926080"/>
            <a:ext cx="1572768" cy="-137160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730752" y="2624328"/>
            <a:ext cx="1938528" cy="-978408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730752" y="2834640"/>
            <a:ext cx="1938528" cy="1143000"/>
          </a:xfrm>
          <a:prstGeom prst="line">
            <a:avLst/>
          </a:prstGeom>
          <a:noFill/>
          <a:ln w="25400">
            <a:solidFill>
              <a:srgbClr val="C75146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382512" y="4096512"/>
            <a:ext cx="1984248" cy="0"/>
          </a:xfrm>
          <a:prstGeom prst="line">
            <a:avLst/>
          </a:prstGeom>
          <a:noFill/>
          <a:ln w="25400">
            <a:solidFill>
              <a:srgbClr val="C75146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382512" y="1627632"/>
            <a:ext cx="3995928" cy="1161288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079992" y="3977640"/>
            <a:ext cx="1298448" cy="-822960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600200" y="239572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774"/>
                </a:solidFill>
              </a:rPr>
              <a:t>Execution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931920" y="1783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774"/>
                </a:solidFill>
              </a:rPr>
              <a:t>COMMIT requested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51960" y="37947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774"/>
                </a:solidFill>
              </a:rPr>
              <a:t>Error / crash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12280" y="42976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774"/>
                </a:solidFill>
              </a:rPr>
              <a:t>Undo changes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4400" y="5166360"/>
            <a:ext cx="10332720" cy="5029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3313F"/>
                </a:solidFill>
              </a:rPr>
              <a:t>An aborted transaction may be restarted or permanently terminated depending on the cause of failure.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0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Execute Transactions Concurrently?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33756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D3D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71600"/>
            <a:ext cx="73152" cy="2011680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4904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13F"/>
                </a:solidFill>
              </a:rPr>
              <a:t>Better CPU / I/O Utilization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41248" y="1828800"/>
            <a:ext cx="2990088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While one transaction waits for disk or network I/O, another can use the CPU.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416552" y="1371600"/>
            <a:ext cx="333756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D3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16552" y="1371600"/>
            <a:ext cx="73152" cy="20116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14904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13F"/>
                </a:solidFill>
              </a:rPr>
              <a:t>Higher Throughput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17720" y="1828800"/>
            <a:ext cx="2990088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More transactions can be completed per unit time.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193024" y="1371600"/>
            <a:ext cx="333756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C8D3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93024" y="1371600"/>
            <a:ext cx="73152" cy="201168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94192" y="14904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13F"/>
                </a:solidFill>
              </a:rPr>
              <a:t>Better Response Time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94192" y="1828800"/>
            <a:ext cx="2990088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Short transactions do not always need to wait for long transactions to finish.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05840" y="4023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8"/>
                </a:solidFill>
              </a:rPr>
              <a:t>But concurrency creates a new question: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05840" y="4617720"/>
            <a:ext cx="10149840" cy="685800"/>
          </a:xfrm>
          <a:prstGeom prst="rect">
            <a:avLst/>
          </a:prstGeom>
          <a:solidFill>
            <a:srgbClr val="FBEDEE"/>
          </a:solidFill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75146"/>
                </a:solidFill>
              </a:rPr>
              <a:t>Is the interleaved execution equivalent to a correct serial execution?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0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a Schedule?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1887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3313F"/>
                </a:solidFill>
              </a:rPr>
              <a:t>A schedule specifies the order in which operations of multiple transactions are executed while preserving the internal order of each transaction.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77240" y="2240280"/>
            <a:ext cx="4709160" cy="2286000"/>
          </a:xfrm>
          <a:prstGeom prst="roundRect">
            <a:avLst>
              <a:gd name="adj" fmla="val 2400"/>
            </a:avLst>
          </a:prstGeom>
          <a:solidFill>
            <a:srgbClr val="EAF1F8"/>
          </a:solidFill>
          <a:ln w="12700">
            <a:solidFill>
              <a:srgbClr val="C8D3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240280"/>
            <a:ext cx="73152" cy="2286000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235915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13F"/>
                </a:solidFill>
              </a:rPr>
              <a:t>Transaction T₁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78408" y="2697480"/>
            <a:ext cx="4361688" cy="1719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R₁(A)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W₁(A)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R₁(B)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W₁(B)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675120" y="2240280"/>
            <a:ext cx="4709160" cy="2286000"/>
          </a:xfrm>
          <a:prstGeom prst="roundRect">
            <a:avLst>
              <a:gd name="adj" fmla="val 2400"/>
            </a:avLst>
          </a:prstGeom>
          <a:solidFill>
            <a:srgbClr val="E8F4EF"/>
          </a:solidFill>
          <a:ln w="12700">
            <a:solidFill>
              <a:srgbClr val="C8D3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75120" y="2240280"/>
            <a:ext cx="73152" cy="22860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76288" y="235915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13F"/>
                </a:solidFill>
              </a:rPr>
              <a:t>Transaction T₂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876288" y="2697480"/>
            <a:ext cx="4361688" cy="1719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R₂(A)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W₂(A)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R₂(C)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W₂(C)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14400" y="4983480"/>
            <a:ext cx="1028700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3313F"/>
                </a:solidFill>
              </a:rPr>
              <a:t>Possible schedule:  R₁(A), W₁(A), R₂(A), W₂(A), R₁(B), W₁(B), R₂(C), W₂(C)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0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Serial Schedule vs Non-Serial Schedule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5212080" cy="4160520"/>
          </a:xfrm>
          <a:prstGeom prst="roundRect">
            <a:avLst>
              <a:gd name="adj" fmla="val 1319"/>
            </a:avLst>
          </a:prstGeom>
          <a:solidFill>
            <a:srgbClr val="E8F4EF"/>
          </a:solidFill>
          <a:ln w="12700">
            <a:solidFill>
              <a:srgbClr val="C8D3D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25880"/>
            <a:ext cx="73152" cy="41605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444752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13F"/>
                </a:solidFill>
              </a:rPr>
              <a:t>Serial Schedule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41248" y="1783080"/>
            <a:ext cx="4864608" cy="3593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One transaction completes before the next starts.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Example: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R₁(X), W₁(X), R₁(Y), W₁(Y), C₁,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R₂(X), W₂(X), C₂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✓ Easy to reason about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✓ Correct if each transaction is correct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✗ Lower concurrency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325880"/>
            <a:ext cx="5212080" cy="4160520"/>
          </a:xfrm>
          <a:prstGeom prst="roundRect">
            <a:avLst>
              <a:gd name="adj" fmla="val 1319"/>
            </a:avLst>
          </a:prstGeom>
          <a:solidFill>
            <a:srgbClr val="EAF1F8"/>
          </a:solidFill>
          <a:ln w="12700">
            <a:solidFill>
              <a:srgbClr val="C8D3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1325880"/>
            <a:ext cx="73152" cy="4160520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0528" y="1444752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13F"/>
                </a:solidFill>
              </a:rPr>
              <a:t>Non-Serial Schedule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10528" y="1783080"/>
            <a:ext cx="4864608" cy="3593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Operations from transactions are interleaved.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Example: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R₁(X), R₂(X), W₁(X), W₂(X), ...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✓ Better concurrency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✓ Better resource use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✗ May cause anomalies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✗ Must be checked for serializability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51560" y="5715000"/>
            <a:ext cx="10104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75146"/>
                </a:solidFill>
              </a:rPr>
              <a:t>Important: Non-serial does not automatically mean incorrect. A non-serial schedule can still be serializable.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0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Concurrency Problem 1: Lost Update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3313F"/>
                </a:solidFill>
              </a:rPr>
              <a:t>Two transactions read the same old value and one update overwrites the other.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60120" y="1828800"/>
          <a:ext cx="10058400" cy="3063240"/>
        </p:xfrm>
        <a:graphic>
          <a:graphicData uri="http://schemas.openxmlformats.org/drawingml/2006/table">
            <a:tbl>
              <a:tblPr/>
              <a:tblGrid>
                <a:gridCol w="1097280"/>
                <a:gridCol w="3291840"/>
                <a:gridCol w="3291840"/>
                <a:gridCol w="23774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Step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T₁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T₂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X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R₁(X=100)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100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R₂(X=100)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100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X = X + 20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100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X = X − 10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100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W₁(X=120)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120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W₂(X=90)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90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60120" y="1828800"/>
            <a:ext cx="1097280" cy="384048"/>
          </a:xfrm>
          <a:prstGeom prst="rect">
            <a:avLst/>
          </a:prstGeom>
          <a:solidFill>
            <a:srgbClr val="EAF1F8"/>
          </a:solidFill>
          <a:ln w="12700">
            <a:solidFill>
              <a:srgbClr val="AAB7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87552" y="1901952"/>
            <a:ext cx="10424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8"/>
                </a:solidFill>
              </a:rPr>
              <a:t>Step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057400" y="1828800"/>
            <a:ext cx="3291840" cy="384048"/>
          </a:xfrm>
          <a:prstGeom prst="rect">
            <a:avLst/>
          </a:prstGeom>
          <a:solidFill>
            <a:srgbClr val="EAF1F8"/>
          </a:solidFill>
          <a:ln w="12700">
            <a:solidFill>
              <a:srgbClr val="AAB7C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84832" y="1901952"/>
            <a:ext cx="32369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8"/>
                </a:solidFill>
              </a:rPr>
              <a:t>T₁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349240" y="1828800"/>
            <a:ext cx="3291840" cy="384048"/>
          </a:xfrm>
          <a:prstGeom prst="rect">
            <a:avLst/>
          </a:prstGeom>
          <a:solidFill>
            <a:srgbClr val="EAF1F8"/>
          </a:solidFill>
          <a:ln w="12700">
            <a:solidFill>
              <a:srgbClr val="AAB7C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76672" y="1901952"/>
            <a:ext cx="32369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8"/>
                </a:solidFill>
              </a:rPr>
              <a:t>T₂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641080" y="1828800"/>
            <a:ext cx="2377440" cy="384048"/>
          </a:xfrm>
          <a:prstGeom prst="rect">
            <a:avLst/>
          </a:prstGeom>
          <a:solidFill>
            <a:srgbClr val="EAF1F8"/>
          </a:solidFill>
          <a:ln w="12700">
            <a:solidFill>
              <a:srgbClr val="AAB7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68512" y="1901952"/>
            <a:ext cx="23225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8"/>
                </a:solidFill>
              </a:rPr>
              <a:t>X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14400" y="5257800"/>
            <a:ext cx="10241280" cy="502920"/>
          </a:xfrm>
          <a:prstGeom prst="rect">
            <a:avLst/>
          </a:prstGeom>
          <a:solidFill>
            <a:srgbClr val="FBEDEE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75146"/>
                </a:solidFill>
              </a:rPr>
              <a:t>Expected after both updates: 110   •   Final database value: 90   →   T₁ update is lost.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0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Concurrency Problem 2: Dirty Read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3313F"/>
                </a:solidFill>
              </a:rPr>
              <a:t>A transaction reads data written by another transaction before that transaction commits.</a:t>
            </a:r>
            <a:endParaRPr lang="en-US" sz="1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60120" y="1783080"/>
          <a:ext cx="10058400" cy="3017520"/>
        </p:xfrm>
        <a:graphic>
          <a:graphicData uri="http://schemas.openxmlformats.org/drawingml/2006/table">
            <a:tbl>
              <a:tblPr/>
              <a:tblGrid>
                <a:gridCol w="1097280"/>
                <a:gridCol w="2743200"/>
                <a:gridCol w="2743200"/>
                <a:gridCol w="3474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Step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T₁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T₂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Comment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W₁(X=500)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T₁ writes new value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R₂(X=500)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T₂ reads uncommitted value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ABORT₁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T₁ is rolled back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Uses X=500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T₂ used a value that never became valid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60120" y="1783080"/>
            <a:ext cx="1097280" cy="384048"/>
          </a:xfrm>
          <a:prstGeom prst="rect">
            <a:avLst/>
          </a:prstGeom>
          <a:solidFill>
            <a:srgbClr val="EAF1F8"/>
          </a:solidFill>
          <a:ln w="12700">
            <a:solidFill>
              <a:srgbClr val="AAB7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87552" y="1856232"/>
            <a:ext cx="10424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8"/>
                </a:solidFill>
              </a:rPr>
              <a:t>Step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057400" y="1783080"/>
            <a:ext cx="2743200" cy="384048"/>
          </a:xfrm>
          <a:prstGeom prst="rect">
            <a:avLst/>
          </a:prstGeom>
          <a:solidFill>
            <a:srgbClr val="EAF1F8"/>
          </a:solidFill>
          <a:ln w="12700">
            <a:solidFill>
              <a:srgbClr val="AAB7C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084832" y="1856232"/>
            <a:ext cx="26883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8"/>
                </a:solidFill>
              </a:rPr>
              <a:t>T₁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800600" y="1783080"/>
            <a:ext cx="2743200" cy="384048"/>
          </a:xfrm>
          <a:prstGeom prst="rect">
            <a:avLst/>
          </a:prstGeom>
          <a:solidFill>
            <a:srgbClr val="EAF1F8"/>
          </a:solidFill>
          <a:ln w="12700">
            <a:solidFill>
              <a:srgbClr val="AAB7C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28032" y="1856232"/>
            <a:ext cx="26883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8"/>
                </a:solidFill>
              </a:rPr>
              <a:t>T₂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543800" y="1783080"/>
            <a:ext cx="3474720" cy="384048"/>
          </a:xfrm>
          <a:prstGeom prst="rect">
            <a:avLst/>
          </a:prstGeom>
          <a:solidFill>
            <a:srgbClr val="EAF1F8"/>
          </a:solidFill>
          <a:ln w="12700">
            <a:solidFill>
              <a:srgbClr val="AAB7C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71232" y="1856232"/>
            <a:ext cx="34198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8"/>
                </a:solidFill>
              </a:rPr>
              <a:t>Comment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920240" y="5166360"/>
            <a:ext cx="8229600" cy="502920"/>
          </a:xfrm>
          <a:prstGeom prst="rect">
            <a:avLst/>
          </a:prstGeom>
          <a:solidFill>
            <a:srgbClr val="FBEDEE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75146"/>
                </a:solidFill>
              </a:rPr>
              <a:t>Also called: Uncommitted Dependency / Temporary Update Problem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0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Other Concurrency Anomalies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3383280" cy="3520440"/>
          </a:xfrm>
          <a:prstGeom prst="roundRect">
            <a:avLst>
              <a:gd name="adj" fmla="val 1622"/>
            </a:avLst>
          </a:prstGeom>
          <a:solidFill>
            <a:srgbClr val="EAF1F8"/>
          </a:solidFill>
          <a:ln w="12700">
            <a:solidFill>
              <a:srgbClr val="C8D3D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25880"/>
            <a:ext cx="73152" cy="3520440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44475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13F"/>
                </a:solidFill>
              </a:rPr>
              <a:t>Unrepeatable Read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41248" y="1783080"/>
            <a:ext cx="3035808" cy="2953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T₁ reads X. T₂ updates and commits X. T₁ reads X again and obtains a different value.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R₁(X=100)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W₂(X=120), C₂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R₁(X=120)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407408" y="1325880"/>
            <a:ext cx="3383280" cy="3520440"/>
          </a:xfrm>
          <a:prstGeom prst="roundRect">
            <a:avLst>
              <a:gd name="adj" fmla="val 1622"/>
            </a:avLst>
          </a:prstGeom>
          <a:solidFill>
            <a:srgbClr val="FFF6DD"/>
          </a:solidFill>
          <a:ln w="12700">
            <a:solidFill>
              <a:srgbClr val="C8D3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07408" y="1325880"/>
            <a:ext cx="73152" cy="3520440"/>
          </a:xfrm>
          <a:prstGeom prst="rect">
            <a:avLst/>
          </a:prstGeom>
          <a:solidFill>
            <a:srgbClr val="B58900"/>
          </a:solidFill>
          <a:ln w="12700">
            <a:solidFill>
              <a:srgbClr val="B58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08576" y="144475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13F"/>
                </a:solidFill>
              </a:rPr>
              <a:t>Incorrect Summary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08576" y="1783080"/>
            <a:ext cx="3035808" cy="2953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One transaction computes an aggregate while another transaction updates some of the same rows. The aggregate may combine old and new values.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174736" y="1325880"/>
            <a:ext cx="3383280" cy="3520440"/>
          </a:xfrm>
          <a:prstGeom prst="roundRect">
            <a:avLst>
              <a:gd name="adj" fmla="val 1622"/>
            </a:avLst>
          </a:prstGeom>
          <a:solidFill>
            <a:srgbClr val="E8F4EF"/>
          </a:solidFill>
          <a:ln w="12700">
            <a:solidFill>
              <a:srgbClr val="C8D3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74736" y="1325880"/>
            <a:ext cx="73152" cy="35204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75904" y="144475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13F"/>
                </a:solidFill>
              </a:rPr>
              <a:t>Phantom Read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75904" y="1783080"/>
            <a:ext cx="3035808" cy="2953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T₁ executes a condition-based query. T₂ inserts/deletes rows matching the condition. T₁ repeats the query and sees a different set of rows.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14400" y="5257800"/>
            <a:ext cx="10287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78"/>
                </a:solidFill>
              </a:rPr>
              <a:t>These anomalies motivate concurrency-control protocols and the concept of serializability.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0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Serializability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774"/>
                </a:solidFill>
              </a:rPr>
              <a:t>The correctness criterion for concurrent schedules.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49808" y="1234440"/>
            <a:ext cx="10607040" cy="594360"/>
          </a:xfrm>
          <a:prstGeom prst="rect">
            <a:avLst/>
          </a:prstGeom>
          <a:solidFill>
            <a:srgbClr val="EAF1F8"/>
          </a:solidFill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4E78"/>
                </a:solidFill>
              </a:rPr>
              <a:t>A schedule is serializable if its effect is equivalent to some serial schedule of the same transactions.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68680" y="2377440"/>
            <a:ext cx="4663440" cy="2377440"/>
          </a:xfrm>
          <a:prstGeom prst="roundRect">
            <a:avLst>
              <a:gd name="adj" fmla="val 2308"/>
            </a:avLst>
          </a:prstGeom>
          <a:solidFill>
            <a:srgbClr val="E8F4EF"/>
          </a:solidFill>
          <a:ln w="12700">
            <a:solidFill>
              <a:srgbClr val="C8D3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377440"/>
            <a:ext cx="73152" cy="23774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9848" y="2496312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13F"/>
                </a:solidFill>
              </a:rPr>
              <a:t>Serial Order 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69848" y="2834640"/>
            <a:ext cx="4315968" cy="1810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T₁ → T₂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All operations of T₁ execute first, then all operations of T₂.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629400" y="2377440"/>
            <a:ext cx="4663440" cy="2377440"/>
          </a:xfrm>
          <a:prstGeom prst="roundRect">
            <a:avLst>
              <a:gd name="adj" fmla="val 2308"/>
            </a:avLst>
          </a:prstGeom>
          <a:solidFill>
            <a:srgbClr val="E8F4EF"/>
          </a:solidFill>
          <a:ln w="12700">
            <a:solidFill>
              <a:srgbClr val="C8D3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2377440"/>
            <a:ext cx="73152" cy="23774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30568" y="2496312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13F"/>
                </a:solidFill>
              </a:rPr>
              <a:t>Serial Order 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830568" y="2834640"/>
            <a:ext cx="4315968" cy="1810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T₂ → T₁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All operations of T₂ execute first, then all operations of T₁.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51560" y="52578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313F"/>
                </a:solidFill>
              </a:rPr>
              <a:t>A non-serial schedule is acceptable when it behaves like at least one valid serial order.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0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When Do Two Operations Conflict?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8"/>
                </a:solidFill>
              </a:rPr>
              <a:t>Two operations conflict when all three conditions hold: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" y="1691640"/>
            <a:ext cx="557784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3313F"/>
                </a:solidFill>
              </a:rPr>
              <a:t>They belong to different transactions.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3313F"/>
                </a:solidFill>
              </a:rPr>
              <a:t>They access the same data item.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23313F"/>
                </a:solidFill>
              </a:rPr>
              <a:t>At least one of them is a WRITE operation.</a:t>
            </a:r>
            <a:endParaRPr lang="en-US" sz="1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1234440"/>
          <a:ext cx="4572000" cy="3383280"/>
        </p:xfrm>
        <a:graphic>
          <a:graphicData uri="http://schemas.openxmlformats.org/drawingml/2006/table">
            <a:tbl>
              <a:tblPr/>
              <a:tblGrid>
                <a:gridCol w="2971800"/>
                <a:gridCol w="16002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Operation Pair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Conflict?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R₁(X), R₂(X)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R₁(X), W₂(X)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W₁(X), R₂(X)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W₁(X), W₂(X)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W₁(X), R₂(Y)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720840" y="1234440"/>
            <a:ext cx="2971800" cy="384048"/>
          </a:xfrm>
          <a:prstGeom prst="rect">
            <a:avLst/>
          </a:prstGeom>
          <a:solidFill>
            <a:srgbClr val="EAF1F8"/>
          </a:solidFill>
          <a:ln w="12700">
            <a:solidFill>
              <a:srgbClr val="AAB7C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48272" y="1307592"/>
            <a:ext cx="29169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8"/>
                </a:solidFill>
              </a:rPr>
              <a:t>Operation Pair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692640" y="1234440"/>
            <a:ext cx="1600200" cy="384048"/>
          </a:xfrm>
          <a:prstGeom prst="rect">
            <a:avLst/>
          </a:prstGeom>
          <a:solidFill>
            <a:srgbClr val="EAF1F8"/>
          </a:solidFill>
          <a:ln w="12700">
            <a:solidFill>
              <a:srgbClr val="AAB7C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720072" y="1307592"/>
            <a:ext cx="15453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8"/>
                </a:solidFill>
              </a:rPr>
              <a:t>Conflict?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97280" y="5166360"/>
            <a:ext cx="10058400" cy="502920"/>
          </a:xfrm>
          <a:prstGeom prst="rect">
            <a:avLst/>
          </a:prstGeom>
          <a:solidFill>
            <a:srgbClr val="FBEDEE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75146"/>
                </a:solidFill>
              </a:rPr>
              <a:t>Conflicting operations cannot be swapped without potentially changing the result.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0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Conflict Equivalence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11887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3313F"/>
                </a:solidFill>
              </a:rPr>
              <a:t>Two schedules are conflict equivalent if they contain the same operations and preserve the order of every pair of conflicting operations.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4800600" cy="2514600"/>
          </a:xfrm>
          <a:prstGeom prst="roundRect">
            <a:avLst>
              <a:gd name="adj" fmla="val 2182"/>
            </a:avLst>
          </a:prstGeom>
          <a:solidFill>
            <a:srgbClr val="EAF1F8"/>
          </a:solidFill>
          <a:ln w="12700">
            <a:solidFill>
              <a:srgbClr val="C8D3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48840"/>
            <a:ext cx="73152" cy="2514600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226771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13F"/>
                </a:solidFill>
              </a:rPr>
              <a:t>Schedule S₁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24128" y="2606040"/>
            <a:ext cx="4453128" cy="1947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R₁(X), W₁(X), R₂(X), W₂(X)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Conflicting order: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W₁(X) before R₂(X)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W₁(X) before W₂(X)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583680" y="2148840"/>
            <a:ext cx="4800600" cy="2514600"/>
          </a:xfrm>
          <a:prstGeom prst="roundRect">
            <a:avLst>
              <a:gd name="adj" fmla="val 2182"/>
            </a:avLst>
          </a:prstGeom>
          <a:solidFill>
            <a:srgbClr val="E8F4EF"/>
          </a:solidFill>
          <a:ln w="12700">
            <a:solidFill>
              <a:srgbClr val="C8D3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0" y="2148840"/>
            <a:ext cx="73152" cy="25146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84848" y="226771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13F"/>
                </a:solidFill>
              </a:rPr>
              <a:t>Serial Schedule T₁ → T₂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784848" y="2606040"/>
            <a:ext cx="4453128" cy="1947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R₁(X), W₁(X), R₂(X), W₂(X)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Same relative order of all conflicting operations.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97280" y="51663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A9D8F"/>
                </a:solidFill>
              </a:rPr>
              <a:t>Therefore S₁ is conflict equivalent to the serial order T₁ → T₂.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0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Conflict Serializability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698480" cy="502920"/>
          </a:xfrm>
          <a:prstGeom prst="rect">
            <a:avLst/>
          </a:prstGeom>
          <a:solidFill>
            <a:srgbClr val="EAF1F8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4E78"/>
                </a:solidFill>
              </a:rPr>
              <a:t>A schedule is conflict serializable if it is conflict equivalent to some serial schedule.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77240" y="2057400"/>
            <a:ext cx="3246120" cy="246888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8D3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57400"/>
            <a:ext cx="73152" cy="2468880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21762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13F"/>
                </a:solidFill>
              </a:rPr>
              <a:t>Method 1: Swapping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78408" y="2514600"/>
            <a:ext cx="2898648" cy="1901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Repeatedly swap adjacent non-conflicting operations.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If the schedule can be transformed into a serial schedule, it is conflict serializable.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480560" y="2057400"/>
            <a:ext cx="3246120" cy="2468880"/>
          </a:xfrm>
          <a:prstGeom prst="roundRect">
            <a:avLst>
              <a:gd name="adj" fmla="val 2222"/>
            </a:avLst>
          </a:prstGeom>
          <a:solidFill>
            <a:srgbClr val="E8F4EF"/>
          </a:solidFill>
          <a:ln w="12700">
            <a:solidFill>
              <a:srgbClr val="C8D3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2057400"/>
            <a:ext cx="73152" cy="24688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81728" y="21762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13F"/>
                </a:solidFill>
              </a:rPr>
              <a:t>Method 2: Graph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81728" y="2514600"/>
            <a:ext cx="2898648" cy="1901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Construct a precedence or serialization graph.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No cycle → Conflict serializable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Cycle → Not conflict serializable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83880" y="2057400"/>
            <a:ext cx="3246120" cy="2468880"/>
          </a:xfrm>
          <a:prstGeom prst="roundRect">
            <a:avLst>
              <a:gd name="adj" fmla="val 2222"/>
            </a:avLst>
          </a:prstGeom>
          <a:solidFill>
            <a:srgbClr val="FFF6DD"/>
          </a:solidFill>
          <a:ln w="12700">
            <a:solidFill>
              <a:srgbClr val="C8D3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83880" y="2057400"/>
            <a:ext cx="73152" cy="2468880"/>
          </a:xfrm>
          <a:prstGeom prst="rect">
            <a:avLst/>
          </a:prstGeom>
          <a:solidFill>
            <a:srgbClr val="B58900"/>
          </a:solidFill>
          <a:ln w="12700">
            <a:solidFill>
              <a:srgbClr val="B58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85048" y="21762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13F"/>
                </a:solidFill>
              </a:rPr>
              <a:t>Preferred in Exams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85048" y="2514600"/>
            <a:ext cx="2898648" cy="1901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Use the precedence graph because it is systematic and works well for schedules involving many transactions.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60120" y="5120640"/>
            <a:ext cx="10195560" cy="640080"/>
          </a:xfrm>
          <a:prstGeom prst="rect">
            <a:avLst/>
          </a:prstGeom>
          <a:solidFill>
            <a:srgbClr val="FBEDEE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75146"/>
                </a:solidFill>
              </a:rPr>
              <a:t>Key Theorem: A schedule is conflict serializable if and only if its precedence graph is acyclic.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0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Precedence Graph: Construction Rules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49808" y="1188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8"/>
                </a:solidFill>
              </a:rPr>
              <a:t>Create a directed graph G = (V, E).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5623560" cy="3017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23313F"/>
                </a:solidFill>
              </a:rPr>
              <a:t>One node for each transaction.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23313F"/>
                </a:solidFill>
              </a:rPr>
              <a:t>Add edge Tᵢ → Tⱼ when an operation of Tᵢ occurs before and conflicts with an operation of Tⱼ on the same item.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23313F"/>
                </a:solidFill>
              </a:rPr>
              <a:t>After adding all edges, inspect the graph for cycles.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0" y="2011680"/>
            <a:ext cx="713232" cy="713232"/>
          </a:xfrm>
          <a:prstGeom prst="ellipse">
            <a:avLst/>
          </a:prstGeom>
          <a:solidFill>
            <a:srgbClr val="EAF1F8"/>
          </a:solidFill>
          <a:ln w="20320">
            <a:solidFill>
              <a:srgbClr val="2F75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0" y="222199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313F"/>
                </a:solidFill>
              </a:rPr>
              <a:t>T₁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738360" y="2011680"/>
            <a:ext cx="713232" cy="713232"/>
          </a:xfrm>
          <a:prstGeom prst="ellipse">
            <a:avLst/>
          </a:prstGeom>
          <a:solidFill>
            <a:srgbClr val="E8F4EF"/>
          </a:solidFill>
          <a:ln w="20320">
            <a:solidFill>
              <a:srgbClr val="2F75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38360" y="222199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313F"/>
                </a:solidFill>
              </a:rPr>
              <a:t>T₂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522208" y="4069080"/>
            <a:ext cx="713232" cy="713232"/>
          </a:xfrm>
          <a:prstGeom prst="ellipse">
            <a:avLst/>
          </a:prstGeom>
          <a:solidFill>
            <a:srgbClr val="FFF6DD"/>
          </a:solidFill>
          <a:ln w="20320">
            <a:solidFill>
              <a:srgbClr val="2F75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22208" y="427939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313F"/>
                </a:solidFill>
              </a:rPr>
              <a:t>T₃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28432" y="2359152"/>
            <a:ext cx="1709928" cy="0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921240" y="2697480"/>
            <a:ext cx="-1005840" cy="1371600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7315200" y="5166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A9D8F"/>
                </a:solidFill>
              </a:rPr>
              <a:t>Acyclic graph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37960" y="5577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774"/>
                </a:solidFill>
              </a:rPr>
              <a:t>Topological order gives the equivalent serial order.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0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Solved Example 1: Conflict Serializable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143000"/>
            <a:ext cx="10789920" cy="457200"/>
          </a:xfrm>
          <a:prstGeom prst="rect">
            <a:avLst/>
          </a:prstGeom>
          <a:solidFill>
            <a:srgbClr val="EAF1F8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3313F"/>
                </a:solidFill>
              </a:rPr>
              <a:t>Schedule S:  R₁(X), W₁(X), R₂(X), W₂(X), R₂(Y), W₂(Y)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5120640" cy="3063240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2700">
            <a:solidFill>
              <a:srgbClr val="C8D3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874520"/>
            <a:ext cx="73152" cy="3063240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993392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13F"/>
                </a:solidFill>
              </a:rPr>
              <a:t>Step 1: Find Conflicts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86968" y="2331720"/>
            <a:ext cx="4773168" cy="2496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On X: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W₁(X) before R₂(X)  → T₁ → T₂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W₁(X) before W₂(X)  → T₁ → T₂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R₁(X) before W₂(X)  → T₁ → T₂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No reverse edge exists.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15200" y="2331720"/>
            <a:ext cx="713232" cy="713232"/>
          </a:xfrm>
          <a:prstGeom prst="ellipse">
            <a:avLst/>
          </a:prstGeom>
          <a:solidFill>
            <a:srgbClr val="EAF1F8"/>
          </a:solidFill>
          <a:ln w="20320">
            <a:solidFill>
              <a:srgbClr val="2F75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0" y="254203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313F"/>
                </a:solidFill>
              </a:rPr>
              <a:t>T₁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829800" y="2331720"/>
            <a:ext cx="713232" cy="713232"/>
          </a:xfrm>
          <a:prstGeom prst="ellipse">
            <a:avLst/>
          </a:prstGeom>
          <a:solidFill>
            <a:srgbClr val="E8F4EF"/>
          </a:solidFill>
          <a:ln w="20320">
            <a:solidFill>
              <a:srgbClr val="2F75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29800" y="254203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313F"/>
                </a:solidFill>
              </a:rPr>
              <a:t>T₂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28432" y="2688336"/>
            <a:ext cx="1801368" cy="0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7452360" y="370332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9D8F"/>
                </a:solidFill>
              </a:rPr>
              <a:t>No cycle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720840" y="4343400"/>
            <a:ext cx="4389120" cy="502920"/>
          </a:xfrm>
          <a:prstGeom prst="rect">
            <a:avLst/>
          </a:prstGeom>
          <a:solidFill>
            <a:srgbClr val="E8F4EF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4E78"/>
                </a:solidFill>
              </a:rPr>
              <a:t>Equivalent Serial Order: T₁ → T₂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194560" y="5349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9D8F"/>
                </a:solidFill>
              </a:rPr>
              <a:t>Conclusion: S is conflict serializable.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0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Solved Example 2: Not Conflict Serializable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10698480" cy="457200"/>
          </a:xfrm>
          <a:prstGeom prst="rect">
            <a:avLst/>
          </a:prstGeom>
          <a:solidFill>
            <a:srgbClr val="EAF1F8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3313F"/>
                </a:solidFill>
              </a:rPr>
              <a:t>Schedule S:  R₁(X), R₂(X), W₁(X), W₂(X)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507492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C8D3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74520"/>
            <a:ext cx="73152" cy="3200400"/>
          </a:xfrm>
          <a:prstGeom prst="rect">
            <a:avLst/>
          </a:prstGeom>
          <a:solidFill>
            <a:srgbClr val="C75146"/>
          </a:solidFill>
          <a:ln w="12700">
            <a:solidFill>
              <a:srgbClr val="C751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19933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13F"/>
                </a:solidFill>
              </a:rPr>
              <a:t>Conflicting Pairs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78408" y="2331720"/>
            <a:ext cx="4727448" cy="2633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R₂(X) before W₁(X)  →  T₂ → T₁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R₁(X) before W₂(X)  →  T₁ → T₂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W₁(X) before W₂(X)  →  T₁ → T₂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15200" y="2331720"/>
            <a:ext cx="713232" cy="713232"/>
          </a:xfrm>
          <a:prstGeom prst="ellipse">
            <a:avLst/>
          </a:prstGeom>
          <a:solidFill>
            <a:srgbClr val="EAF1F8"/>
          </a:solidFill>
          <a:ln w="20320">
            <a:solidFill>
              <a:srgbClr val="2F75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0" y="254203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313F"/>
                </a:solidFill>
              </a:rPr>
              <a:t>T₁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829800" y="2331720"/>
            <a:ext cx="713232" cy="713232"/>
          </a:xfrm>
          <a:prstGeom prst="ellipse">
            <a:avLst/>
          </a:prstGeom>
          <a:solidFill>
            <a:srgbClr val="E8F4EF"/>
          </a:solidFill>
          <a:ln w="20320">
            <a:solidFill>
              <a:srgbClr val="2F75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29800" y="254203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313F"/>
                </a:solidFill>
              </a:rPr>
              <a:t>T₂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28432" y="2578608"/>
            <a:ext cx="1801368" cy="0"/>
          </a:xfrm>
          <a:prstGeom prst="line">
            <a:avLst/>
          </a:prstGeom>
          <a:noFill/>
          <a:ln w="25400">
            <a:solidFill>
              <a:srgbClr val="C7514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829800" y="2971800"/>
            <a:ext cx="-1801368" cy="0"/>
          </a:xfrm>
          <a:prstGeom prst="line">
            <a:avLst/>
          </a:prstGeom>
          <a:noFill/>
          <a:ln w="25400">
            <a:solidFill>
              <a:srgbClr val="C75146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7498080" y="3703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75146"/>
                </a:solidFill>
              </a:rPr>
              <a:t>Cycle: T₁ ↔ T₂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828800" y="5394960"/>
            <a:ext cx="8595360" cy="502920"/>
          </a:xfrm>
          <a:prstGeom prst="rect">
            <a:avLst/>
          </a:prstGeom>
          <a:solidFill>
            <a:srgbClr val="FBEDEE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75146"/>
                </a:solidFill>
              </a:rPr>
              <a:t>Conclusion: The schedule is NOT conflict serializable.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0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Solved Example 3: Three Transactions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1115568"/>
            <a:ext cx="10972800" cy="502920"/>
          </a:xfrm>
          <a:prstGeom prst="rect">
            <a:avLst/>
          </a:prstGeom>
          <a:solidFill>
            <a:srgbClr val="EAF1F8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23313F"/>
                </a:solidFill>
              </a:rPr>
              <a:t>S: R₁(A), W₁(A), R₂(A), W₂(B), R₃(B), W₃(C), R₂(C), W₂(C)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120640" cy="33832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C8D3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C75146"/>
          </a:solidFill>
          <a:ln w="12700">
            <a:solidFill>
              <a:srgbClr val="C751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947672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13F"/>
                </a:solidFill>
              </a:rPr>
              <a:t>Edges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86968" y="2286000"/>
            <a:ext cx="4773168" cy="2816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A: W₁(A) before R₂(A)  → T₁ → T₂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B: W₂(B) before R₃(B)  → T₂ → T₃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C: W₃(C) before R₂(C), W₂(C) → T₃ → T₂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So T₂ ↔ T₃ forms a cycle.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15200" y="2057400"/>
            <a:ext cx="713232" cy="713232"/>
          </a:xfrm>
          <a:prstGeom prst="ellipse">
            <a:avLst/>
          </a:prstGeom>
          <a:solidFill>
            <a:srgbClr val="EAF1F8"/>
          </a:solidFill>
          <a:ln w="20320">
            <a:solidFill>
              <a:srgbClr val="2F75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0" y="226771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313F"/>
                </a:solidFill>
              </a:rPr>
              <a:t>T₁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601200" y="2057400"/>
            <a:ext cx="713232" cy="713232"/>
          </a:xfrm>
          <a:prstGeom prst="ellipse">
            <a:avLst/>
          </a:prstGeom>
          <a:solidFill>
            <a:srgbClr val="E8F4EF"/>
          </a:solidFill>
          <a:ln w="20320">
            <a:solidFill>
              <a:srgbClr val="2F75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0" y="226771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313F"/>
                </a:solidFill>
              </a:rPr>
              <a:t>T₂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458200" y="4160520"/>
            <a:ext cx="713232" cy="713232"/>
          </a:xfrm>
          <a:prstGeom prst="ellipse">
            <a:avLst/>
          </a:prstGeom>
          <a:solidFill>
            <a:srgbClr val="FFF6DD"/>
          </a:solidFill>
          <a:ln w="20320">
            <a:solidFill>
              <a:srgbClr val="2F75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58200" y="437083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313F"/>
                </a:solidFill>
              </a:rPr>
              <a:t>T₃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28432" y="2395728"/>
            <a:ext cx="1572768" cy="0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710928" y="2743200"/>
            <a:ext cx="-822960" cy="1417320"/>
          </a:xfrm>
          <a:prstGeom prst="line">
            <a:avLst/>
          </a:prstGeom>
          <a:noFill/>
          <a:ln w="25400">
            <a:solidFill>
              <a:srgbClr val="C75146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229600" y="4160520"/>
            <a:ext cx="1188720" cy="-1417320"/>
          </a:xfrm>
          <a:prstGeom prst="line">
            <a:avLst/>
          </a:prstGeom>
          <a:noFill/>
          <a:ln w="25400">
            <a:solidFill>
              <a:srgbClr val="C75146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6537960" y="5230368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75146"/>
                </a:solidFill>
              </a:rPr>
              <a:t>Cycle exists → Not conflict serializable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0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Topological Order and Equivalent Serial Schedule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77240" y="114300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3313F"/>
                </a:solidFill>
              </a:rPr>
              <a:t>When the precedence graph is acyclic, any topological ordering of its nodes gives an equivalent serial order.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1463040" y="2743200"/>
            <a:ext cx="713232" cy="713232"/>
          </a:xfrm>
          <a:prstGeom prst="ellipse">
            <a:avLst/>
          </a:prstGeom>
          <a:solidFill>
            <a:srgbClr val="EAF1F8"/>
          </a:solidFill>
          <a:ln w="20320">
            <a:solidFill>
              <a:srgbClr val="2F75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63040" y="295351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313F"/>
                </a:solidFill>
              </a:rPr>
              <a:t>T₁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023360" y="1828800"/>
            <a:ext cx="713232" cy="713232"/>
          </a:xfrm>
          <a:prstGeom prst="ellipse">
            <a:avLst/>
          </a:prstGeom>
          <a:solidFill>
            <a:srgbClr val="E8F4EF"/>
          </a:solidFill>
          <a:ln w="20320">
            <a:solidFill>
              <a:srgbClr val="2F75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0" y="203911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313F"/>
                </a:solidFill>
              </a:rPr>
              <a:t>T₂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023360" y="3657600"/>
            <a:ext cx="713232" cy="713232"/>
          </a:xfrm>
          <a:prstGeom prst="ellipse">
            <a:avLst/>
          </a:prstGeom>
          <a:solidFill>
            <a:srgbClr val="FFF6DD"/>
          </a:solidFill>
          <a:ln w="20320">
            <a:solidFill>
              <a:srgbClr val="2F75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0" y="386791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313F"/>
                </a:solidFill>
              </a:rPr>
              <a:t>T₃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83680" y="2743200"/>
            <a:ext cx="713232" cy="713232"/>
          </a:xfrm>
          <a:prstGeom prst="ellipse">
            <a:avLst/>
          </a:prstGeom>
          <a:solidFill>
            <a:srgbClr val="F3F0FA"/>
          </a:solidFill>
          <a:ln w="20320">
            <a:solidFill>
              <a:srgbClr val="2F75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95351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313F"/>
                </a:solidFill>
              </a:rPr>
              <a:t>T₄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176272" y="2971800"/>
            <a:ext cx="1847088" cy="-822960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176272" y="3246120"/>
            <a:ext cx="1847088" cy="640080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736592" y="2176272"/>
            <a:ext cx="1847088" cy="749808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736592" y="4005072"/>
            <a:ext cx="1847088" cy="-758952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726680" y="1965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8"/>
                </a:solidFill>
              </a:rPr>
              <a:t>Possible serial orders: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726680" y="2514600"/>
            <a:ext cx="3429000" cy="1234440"/>
          </a:xfrm>
          <a:prstGeom prst="rect">
            <a:avLst/>
          </a:prstGeom>
          <a:solidFill>
            <a:srgbClr val="E8F4EF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3313F"/>
                </a:solidFill>
              </a:rPr>
              <a:t>T₁ → T₂ → T₃ → T₄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23313F"/>
                </a:solidFill>
              </a:rPr>
              <a:t>T₁ → T₃ → T₂ → T₄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498080" y="40690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774"/>
                </a:solidFill>
              </a:rPr>
              <a:t>Both are valid because T₂ and T₃ have no ordering edge between them.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0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View Serializability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774"/>
                </a:solidFill>
              </a:rPr>
              <a:t>A broader notion of serializability.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3313F"/>
                </a:solidFill>
              </a:rPr>
              <a:t>Two schedules are view equivalent when they preserve the same read-from relationships and the same final writer for each data item.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777240" y="2103120"/>
            <a:ext cx="3291840" cy="2560320"/>
          </a:xfrm>
          <a:prstGeom prst="roundRect">
            <a:avLst>
              <a:gd name="adj" fmla="val 2143"/>
            </a:avLst>
          </a:prstGeom>
          <a:solidFill>
            <a:srgbClr val="EAF1F8"/>
          </a:solidFill>
          <a:ln w="12700">
            <a:solidFill>
              <a:srgbClr val="C8D3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103120"/>
            <a:ext cx="73152" cy="2560320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22199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13F"/>
                </a:solidFill>
              </a:rPr>
              <a:t>Condition 1: Initial Read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78408" y="2560320"/>
            <a:ext cx="2944368" cy="1993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If Tᵢ reads the initial value of X in one schedule, it must read the initial value of X in the other schedule.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453128" y="2103120"/>
            <a:ext cx="3291840" cy="2560320"/>
          </a:xfrm>
          <a:prstGeom prst="roundRect">
            <a:avLst>
              <a:gd name="adj" fmla="val 2143"/>
            </a:avLst>
          </a:prstGeom>
          <a:solidFill>
            <a:srgbClr val="E8F4EF"/>
          </a:solidFill>
          <a:ln w="12700">
            <a:solidFill>
              <a:srgbClr val="C8D3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53128" y="2103120"/>
            <a:ext cx="73152" cy="25603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54296" y="222199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13F"/>
                </a:solidFill>
              </a:rPr>
              <a:t>Condition 2: Read-From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54296" y="2560320"/>
            <a:ext cx="2944368" cy="1993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If Tᵢ reads X written by Tⱼ in one schedule, the same must hold in the other schedule.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129016" y="2103120"/>
            <a:ext cx="3291840" cy="2560320"/>
          </a:xfrm>
          <a:prstGeom prst="roundRect">
            <a:avLst>
              <a:gd name="adj" fmla="val 2143"/>
            </a:avLst>
          </a:prstGeom>
          <a:solidFill>
            <a:srgbClr val="FFF6DD"/>
          </a:solidFill>
          <a:ln w="12700">
            <a:solidFill>
              <a:srgbClr val="C8D3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29016" y="2103120"/>
            <a:ext cx="73152" cy="2560320"/>
          </a:xfrm>
          <a:prstGeom prst="rect">
            <a:avLst/>
          </a:prstGeom>
          <a:solidFill>
            <a:srgbClr val="B58900"/>
          </a:solidFill>
          <a:ln w="12700">
            <a:solidFill>
              <a:srgbClr val="B589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0184" y="222199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13F"/>
                </a:solidFill>
              </a:rPr>
              <a:t>Condition 3: Final Write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30184" y="2560320"/>
            <a:ext cx="2944368" cy="1993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The transaction performing the final write on X must be the same in both schedules.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51560" y="5257800"/>
            <a:ext cx="10104120" cy="548640"/>
          </a:xfrm>
          <a:prstGeom prst="rect">
            <a:avLst/>
          </a:prstGeom>
          <a:solidFill>
            <a:srgbClr val="FBEDEE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75146"/>
                </a:solidFill>
              </a:rPr>
              <a:t>Every conflict-serializable schedule is view serializable, but the converse is not always true.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0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Blind Write and View Serializability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77240" y="11430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4E78"/>
                </a:solidFill>
              </a:rPr>
              <a:t>A blind write occurs when a transaction writes a data item without first reading it.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4663440" cy="2560320"/>
          </a:xfrm>
          <a:prstGeom prst="roundRect">
            <a:avLst>
              <a:gd name="adj" fmla="val 2143"/>
            </a:avLst>
          </a:prstGeom>
          <a:solidFill>
            <a:srgbClr val="EAF1F8"/>
          </a:solidFill>
          <a:ln w="12700">
            <a:solidFill>
              <a:srgbClr val="C8D3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20240"/>
            <a:ext cx="73152" cy="2560320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2039112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13F"/>
                </a:solidFill>
              </a:rPr>
              <a:t>Example Schedule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24128" y="2377440"/>
            <a:ext cx="4315968" cy="1993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W₁(X), W₂(X), W₁(X)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T₁ performs the final write on X.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No transaction reads X.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629400" y="1920240"/>
            <a:ext cx="4663440" cy="2560320"/>
          </a:xfrm>
          <a:prstGeom prst="roundRect">
            <a:avLst>
              <a:gd name="adj" fmla="val 2143"/>
            </a:avLst>
          </a:prstGeom>
          <a:solidFill>
            <a:srgbClr val="FFF6DD"/>
          </a:solidFill>
          <a:ln w="12700">
            <a:solidFill>
              <a:srgbClr val="C8D3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29400" y="1920240"/>
            <a:ext cx="73152" cy="2560320"/>
          </a:xfrm>
          <a:prstGeom prst="rect">
            <a:avLst/>
          </a:prstGeom>
          <a:solidFill>
            <a:srgbClr val="B58900"/>
          </a:solidFill>
          <a:ln w="12700">
            <a:solidFill>
              <a:srgbClr val="B589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30568" y="2039112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13F"/>
                </a:solidFill>
              </a:rPr>
              <a:t>Key Point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830568" y="2377440"/>
            <a:ext cx="4315968" cy="1993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Some schedules with blind writes may be view serializable even though their precedence graph contains a cycle, so they are not conflict serializable.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51560" y="5074920"/>
            <a:ext cx="1005840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313F"/>
                </a:solidFill>
              </a:rPr>
              <a:t>In most exam problems, conflict serializability is tested first because graph checking is simpler.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0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Conflict vs View Serializability</a:t>
            </a:r>
            <a:endParaRPr lang="en-US" sz="2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25880"/>
          <a:ext cx="10789920" cy="4023360"/>
        </p:xfrm>
        <a:graphic>
          <a:graphicData uri="http://schemas.openxmlformats.org/drawingml/2006/table">
            <a:tbl>
              <a:tblPr/>
              <a:tblGrid>
                <a:gridCol w="2148840"/>
                <a:gridCol w="4251960"/>
                <a:gridCol w="43891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Aspect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Conflict Serializability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View Serializability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Basis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Order of conflicting operations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Read-from relationships and final writes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Testing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Precedence graph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More complex to test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Blind writes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May reject some valid schedules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Can accept certain blind-write schedules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Relationship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Subset of view-serializable schedules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Superset of conflict-serializable schedules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Exam technique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Draw graph and check cycle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3313F"/>
                          </a:solidFill>
                        </a:rPr>
                        <a:t>Apply 3 view-equivalence conditions</a:t>
                      </a:r>
                      <a:endParaRPr lang="en-US" sz="1400" dirty="0"/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B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31520" y="1325880"/>
            <a:ext cx="2148840" cy="384048"/>
          </a:xfrm>
          <a:prstGeom prst="rect">
            <a:avLst/>
          </a:prstGeom>
          <a:solidFill>
            <a:srgbClr val="EAF1F8"/>
          </a:solidFill>
          <a:ln w="12700">
            <a:solidFill>
              <a:srgbClr val="AAB7C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58952" y="1399032"/>
            <a:ext cx="20939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8"/>
                </a:solidFill>
              </a:rPr>
              <a:t>Aspect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880360" y="1325880"/>
            <a:ext cx="4251960" cy="384048"/>
          </a:xfrm>
          <a:prstGeom prst="rect">
            <a:avLst/>
          </a:prstGeom>
          <a:solidFill>
            <a:srgbClr val="EAF1F8"/>
          </a:solidFill>
          <a:ln w="12700">
            <a:solidFill>
              <a:srgbClr val="AAB7C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907792" y="1399032"/>
            <a:ext cx="41970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8"/>
                </a:solidFill>
              </a:rPr>
              <a:t>Conflict Serializability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132320" y="1325880"/>
            <a:ext cx="4389120" cy="384048"/>
          </a:xfrm>
          <a:prstGeom prst="rect">
            <a:avLst/>
          </a:prstGeom>
          <a:solidFill>
            <a:srgbClr val="EAF1F8"/>
          </a:solidFill>
          <a:ln w="12700">
            <a:solidFill>
              <a:srgbClr val="AAB7C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59752" y="1399032"/>
            <a:ext cx="4334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8"/>
                </a:solidFill>
              </a:rPr>
              <a:t>View Serializability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743200" y="562356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4E78"/>
                </a:solidFill>
              </a:rPr>
              <a:t>Conflict Serializable  ⊂  View Serializable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0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 Problem 1: Determine Conflict Serializability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4E78"/>
                </a:solidFill>
              </a:rPr>
              <a:t>Given schedule: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10698480" cy="502920"/>
          </a:xfrm>
          <a:prstGeom prst="rect">
            <a:avLst/>
          </a:prstGeom>
          <a:solidFill>
            <a:srgbClr val="EAF1F8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313F"/>
                </a:solidFill>
              </a:rPr>
              <a:t>S = R₁(X), W₁(X), R₂(Y), W₂(Y), R₁(Y), W₁(Y), R₂(X), W₂(X)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77240" y="2423160"/>
            <a:ext cx="5074920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C8D3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423160"/>
            <a:ext cx="73152" cy="2606040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54203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13F"/>
                </a:solidFill>
              </a:rPr>
              <a:t>Your Task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78408" y="2880360"/>
            <a:ext cx="4727448" cy="2039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1. Identify every conflicting pair.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2. Add precedence graph edges.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3. Check for cycles.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4. If acyclic, write the equivalent serial order.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09360" y="2423160"/>
            <a:ext cx="5074920" cy="2606040"/>
          </a:xfrm>
          <a:prstGeom prst="roundRect">
            <a:avLst>
              <a:gd name="adj" fmla="val 2105"/>
            </a:avLst>
          </a:prstGeom>
          <a:solidFill>
            <a:srgbClr val="FFF6DD"/>
          </a:solidFill>
          <a:ln w="12700">
            <a:solidFill>
              <a:srgbClr val="C8D3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2423160"/>
            <a:ext cx="73152" cy="2606040"/>
          </a:xfrm>
          <a:prstGeom prst="rect">
            <a:avLst/>
          </a:prstGeom>
          <a:solidFill>
            <a:srgbClr val="B58900"/>
          </a:solidFill>
          <a:ln w="12700">
            <a:solidFill>
              <a:srgbClr val="B589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0528" y="254203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13F"/>
                </a:solidFill>
              </a:rPr>
              <a:t>Solution Hint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10528" y="2880360"/>
            <a:ext cx="4727448" cy="2039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On X, T₁ operates before T₂ → edge T₁ → T₂.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On Y, T₂ operates before T₁ → edge T₂ → T₁.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What does this imply?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920240" y="5440680"/>
            <a:ext cx="8321040" cy="502920"/>
          </a:xfrm>
          <a:prstGeom prst="rect">
            <a:avLst/>
          </a:prstGeom>
          <a:solidFill>
            <a:srgbClr val="FBEDEE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75146"/>
                </a:solidFill>
              </a:rPr>
              <a:t>Answer: Cycle T₁ ↔ T₂ → NOT conflict serializable.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0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 Problem 2: Find the Serial Order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10698480" cy="502920"/>
          </a:xfrm>
          <a:prstGeom prst="rect">
            <a:avLst/>
          </a:prstGeom>
          <a:solidFill>
            <a:srgbClr val="EAF1F8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3313F"/>
                </a:solidFill>
              </a:rPr>
              <a:t>S = R₁(A), W₁(A), R₂(A), W₂(B), R₃(B), W₃(C)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493776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C8D3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73152" cy="2834640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2084832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13F"/>
                </a:solidFill>
              </a:rPr>
              <a:t>Conflicts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24128" y="2423160"/>
            <a:ext cx="4590288" cy="2267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A: W₁(A) before R₂(A) → T₁ → T₂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B: W₂(B) before R₃(B) → T₂ → T₃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No conflict creates a reverse edge.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15200" y="2194560"/>
            <a:ext cx="713232" cy="713232"/>
          </a:xfrm>
          <a:prstGeom prst="ellipse">
            <a:avLst/>
          </a:prstGeom>
          <a:solidFill>
            <a:srgbClr val="EAF1F8"/>
          </a:solidFill>
          <a:ln w="20320">
            <a:solidFill>
              <a:srgbClr val="2F75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0" y="240487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313F"/>
                </a:solidFill>
              </a:rPr>
              <a:t>T₁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915400" y="2194560"/>
            <a:ext cx="713232" cy="713232"/>
          </a:xfrm>
          <a:prstGeom prst="ellipse">
            <a:avLst/>
          </a:prstGeom>
          <a:solidFill>
            <a:srgbClr val="E8F4EF"/>
          </a:solidFill>
          <a:ln w="20320">
            <a:solidFill>
              <a:srgbClr val="2F75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15400" y="240487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313F"/>
                </a:solidFill>
              </a:rPr>
              <a:t>T₂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515600" y="2194560"/>
            <a:ext cx="713232" cy="713232"/>
          </a:xfrm>
          <a:prstGeom prst="ellipse">
            <a:avLst/>
          </a:prstGeom>
          <a:solidFill>
            <a:srgbClr val="FFF6DD"/>
          </a:solidFill>
          <a:ln w="20320">
            <a:solidFill>
              <a:srgbClr val="2F75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0" y="2404872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313F"/>
                </a:solidFill>
              </a:rPr>
              <a:t>T₃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28432" y="2560320"/>
            <a:ext cx="886968" cy="0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628632" y="2560320"/>
            <a:ext cx="886968" cy="0"/>
          </a:xfrm>
          <a:prstGeom prst="line">
            <a:avLst/>
          </a:prstGeom>
          <a:noFill/>
          <a:ln w="25400">
            <a:solidFill>
              <a:srgbClr val="2A9D8F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589520" y="3383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9D8F"/>
                </a:solidFill>
              </a:rPr>
              <a:t>Acyclic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629400" y="4069080"/>
            <a:ext cx="4663440" cy="640080"/>
          </a:xfrm>
          <a:prstGeom prst="rect">
            <a:avLst/>
          </a:prstGeom>
          <a:solidFill>
            <a:srgbClr val="E8F4EF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4E78"/>
                </a:solidFill>
              </a:rPr>
              <a:t>Equivalent serial order = T₁ → T₂ → T₃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920240" y="539496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A9D8F"/>
                </a:solidFill>
              </a:rPr>
              <a:t>Therefore, the schedule is conflict serializable.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0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Practice Problems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774"/>
                </a:solidFill>
              </a:rPr>
              <a:t>Try these before checking the answer key.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325880"/>
            <a:ext cx="10698480" cy="4480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23313F"/>
                </a:solidFill>
              </a:rPr>
              <a:t>P1. S = R₁(X), W₁(X), R₂(X), W₂(X). Draw the graph and test serializability.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23313F"/>
                </a:solidFill>
              </a:rPr>
              <a:t>P2. S = R₁(X), R₂(Y), W₁(X), W₂(Y). Is the schedule conflict serializable?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23313F"/>
                </a:solidFill>
              </a:rPr>
              <a:t>P3. S = R₁(A), W₁(A), R₂(A), W₂(B), R₃(B), W₃(C), R₁(C). Find all graph edges.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23313F"/>
                </a:solidFill>
              </a:rPr>
              <a:t>P4. Explain why R₁(X) and R₂(X) do not conflict, but R₁(X) and W₂(X) do.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23313F"/>
                </a:solidFill>
              </a:rPr>
              <a:t>P5. Give one schedule that demonstrates a lost-update anomaly.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23313F"/>
                </a:solidFill>
              </a:rPr>
              <a:t>P6. State the three conditions for view equivalence.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dirty="0">
                <a:solidFill>
                  <a:srgbClr val="23313F"/>
                </a:solidFill>
              </a:rPr>
              <a:t>P7. Can a view-serializable schedule fail to be conflict serializable? Explain the role of blind writes.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0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Practice Answer Key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280160"/>
            <a:ext cx="521208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C8D3D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280160"/>
            <a:ext cx="73152" cy="4526280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1399032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13F"/>
                </a:solidFill>
              </a:rPr>
              <a:t>P1 to P4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86968" y="1737360"/>
            <a:ext cx="4864608" cy="3959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P1: T₁ → T₂ only, so serializable as T₁ → T₂.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P2: No conflicts across different items; graph has no edge, so serializable. Either order is possible.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P3: T₁ → T₂ on A; T₂ → T₃ on B; T₃ → T₁ on C. Cycle exists, so not conflict serializable.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P4: Read-read does not change data. Read-write may change the value seen or final result.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280160"/>
            <a:ext cx="5212080" cy="4526280"/>
          </a:xfrm>
          <a:prstGeom prst="roundRect">
            <a:avLst>
              <a:gd name="adj" fmla="val 1212"/>
            </a:avLst>
          </a:prstGeom>
          <a:solidFill>
            <a:srgbClr val="E8F4EF"/>
          </a:solidFill>
          <a:ln w="12700">
            <a:solidFill>
              <a:srgbClr val="C8D3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1280160"/>
            <a:ext cx="73152" cy="45262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0528" y="1399032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13F"/>
                </a:solidFill>
              </a:rPr>
              <a:t>P5 to P7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10528" y="1737360"/>
            <a:ext cx="4864608" cy="3959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P5: R₁(X), R₂(X), W₁(X), W₂(X) can cause lost update.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P6: Preserve initial reads, read-from relationships, and final writer.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P7: Yes. View serializability is broader. Blind writes can create schedules that are view serializable but not conflict serializable.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0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Common Mistakes to Avoid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234440"/>
            <a:ext cx="3337560" cy="1920240"/>
          </a:xfrm>
          <a:prstGeom prst="roundRect">
            <a:avLst>
              <a:gd name="adj" fmla="val 2857"/>
            </a:avLst>
          </a:prstGeom>
          <a:solidFill>
            <a:srgbClr val="FBEDEE"/>
          </a:solidFill>
          <a:ln w="12700">
            <a:solidFill>
              <a:srgbClr val="C8D3D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234440"/>
            <a:ext cx="73152" cy="1920240"/>
          </a:xfrm>
          <a:prstGeom prst="rect">
            <a:avLst/>
          </a:prstGeom>
          <a:solidFill>
            <a:srgbClr val="C75146"/>
          </a:solidFill>
          <a:ln w="12700">
            <a:solidFill>
              <a:srgbClr val="C751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13533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13F"/>
                </a:solidFill>
              </a:rPr>
              <a:t>Mistake 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86968" y="1691640"/>
            <a:ext cx="2990088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Adding an edge for every pair of operations. Add edges only for conflicting operations on the same item.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425696" y="1234440"/>
            <a:ext cx="3337560" cy="1920240"/>
          </a:xfrm>
          <a:prstGeom prst="roundRect">
            <a:avLst>
              <a:gd name="adj" fmla="val 2857"/>
            </a:avLst>
          </a:prstGeom>
          <a:solidFill>
            <a:srgbClr val="FFF6DD"/>
          </a:solidFill>
          <a:ln w="12700">
            <a:solidFill>
              <a:srgbClr val="C8D3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25696" y="1234440"/>
            <a:ext cx="73152" cy="1920240"/>
          </a:xfrm>
          <a:prstGeom prst="rect">
            <a:avLst/>
          </a:prstGeom>
          <a:solidFill>
            <a:srgbClr val="B58900"/>
          </a:solidFill>
          <a:ln w="12700">
            <a:solidFill>
              <a:srgbClr val="B58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26864" y="13533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13F"/>
                </a:solidFill>
              </a:rPr>
              <a:t>Mistake 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26864" y="1691640"/>
            <a:ext cx="2990088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Treating read-read as a conflict. Rᵢ(X) and Rⱼ(X) do not conflict.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165592" y="1234440"/>
            <a:ext cx="3337560" cy="1920240"/>
          </a:xfrm>
          <a:prstGeom prst="roundRect">
            <a:avLst>
              <a:gd name="adj" fmla="val 2857"/>
            </a:avLst>
          </a:prstGeom>
          <a:solidFill>
            <a:srgbClr val="EAF1F8"/>
          </a:solidFill>
          <a:ln w="12700">
            <a:solidFill>
              <a:srgbClr val="C8D3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65592" y="1234440"/>
            <a:ext cx="73152" cy="1920240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6760" y="13533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13F"/>
                </a:solidFill>
              </a:rPr>
              <a:t>Mistake 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366760" y="1691640"/>
            <a:ext cx="2990088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Looking only for a direct T₁ ↔ T₂ cycle. Longer cycles such as T₁ → T₂ → T₃ → T₁ also matter.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2560320" y="3657600"/>
            <a:ext cx="333756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8D3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0" y="3657600"/>
            <a:ext cx="73152" cy="19202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61488" y="37764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13F"/>
                </a:solidFill>
              </a:rPr>
              <a:t>Mistake 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761488" y="4114800"/>
            <a:ext cx="2990088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Writing a serial order without first confirming that the precedence graph is acyclic.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91072" y="3657600"/>
            <a:ext cx="333756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8D3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91072" y="3657600"/>
            <a:ext cx="73152" cy="1920240"/>
          </a:xfrm>
          <a:prstGeom prst="rect">
            <a:avLst/>
          </a:prstGeom>
          <a:solidFill>
            <a:srgbClr val="2F75B5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37764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13F"/>
                </a:solidFill>
              </a:rPr>
              <a:t>Mistake 5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92240" y="4114800"/>
            <a:ext cx="2990088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13F"/>
                </a:solidFill>
              </a:rPr>
              <a:t>Confusing conflict serializability with view serializability. They are related but not identical.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0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7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Unit Summary: Up to Serializability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85800" y="1325880"/>
            <a:ext cx="1828800" cy="457200"/>
          </a:xfrm>
          <a:prstGeom prst="rect">
            <a:avLst/>
          </a:prstGeom>
          <a:solidFill>
            <a:srgbClr val="1F4E78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TRANSACTION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14600" y="1554480"/>
            <a:ext cx="685800" cy="0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3200400" y="1325880"/>
            <a:ext cx="1417320" cy="457200"/>
          </a:xfrm>
          <a:prstGeom prst="rect">
            <a:avLst/>
          </a:prstGeom>
          <a:solidFill>
            <a:srgbClr val="2F75B5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ACID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617720" y="1554480"/>
            <a:ext cx="685800" cy="0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5303520" y="1325880"/>
            <a:ext cx="1828800" cy="457200"/>
          </a:xfrm>
          <a:prstGeom prst="rect">
            <a:avLst/>
          </a:prstGeom>
          <a:solidFill>
            <a:srgbClr val="2A9D8F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SCHEDULE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132320" y="1554480"/>
            <a:ext cx="685800" cy="0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7818120" y="1325880"/>
            <a:ext cx="1828800" cy="457200"/>
          </a:xfrm>
          <a:prstGeom prst="rect">
            <a:avLst/>
          </a:prstGeom>
          <a:solidFill>
            <a:srgbClr val="B58900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CONFLICTS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9646920" y="1554480"/>
            <a:ext cx="685800" cy="0"/>
          </a:xfrm>
          <a:prstGeom prst="line">
            <a:avLst/>
          </a:prstGeom>
          <a:noFill/>
          <a:ln w="25400">
            <a:solidFill>
              <a:srgbClr val="2F75B5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9646920" y="2240280"/>
            <a:ext cx="2011680" cy="594360"/>
          </a:xfrm>
          <a:prstGeom prst="rect">
            <a:avLst/>
          </a:prstGeom>
          <a:solidFill>
            <a:srgbClr val="C75146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SERIALIZABILITY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14400" y="2971800"/>
            <a:ext cx="10424160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23313F"/>
                </a:solidFill>
              </a:rPr>
              <a:t>Serial schedules are inherently easy to reason about, but concurrency improves performance.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23313F"/>
                </a:solidFill>
              </a:rPr>
              <a:t>A non-serial schedule is correct when it is equivalent to a valid serial execution.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23313F"/>
                </a:solidFill>
              </a:rPr>
              <a:t>Conflict serializability is tested using a precedence graph: acyclic means serializable.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23313F"/>
                </a:solidFill>
              </a:rPr>
              <a:t>View serializability preserves initial reads, read-from relations, and final writes.</a:t>
            </a:r>
            <a:endParaRPr lang="en-US" sz="1650" dirty="0"/>
          </a:p>
          <a:p>
            <a:pPr marL="228600" indent="-228600">
              <a:buSzPct val="100000"/>
              <a:buChar char="•"/>
            </a:pPr>
            <a:r>
              <a:rPr lang="en-US" sz="1650" dirty="0">
                <a:solidFill>
                  <a:srgbClr val="23313F"/>
                </a:solidFill>
              </a:rPr>
              <a:t>Conflict serializability is a subset of view serializability.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14400" y="58064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A6774"/>
                </a:solidFill>
              </a:rPr>
              <a:t>Next topic after serializability: concurrency-control protocols such as locking and timestamp ordering.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0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C. V. Raman Global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Engineering Unit V: Transactions and Serializability</dc:title>
  <dc:subject>Database Engineering Unit V: Transaction Management up to Serializability</dc:subject>
  <dc:creator>OpenAI</dc:creator>
  <cp:lastModifiedBy>OpenAI</cp:lastModifiedBy>
  <cp:revision>1</cp:revision>
  <dcterms:created xsi:type="dcterms:W3CDTF">2026-09-22T08:09:57Z</dcterms:created>
  <dcterms:modified xsi:type="dcterms:W3CDTF">2026-09-22T08:09:57Z</dcterms:modified>
</cp:coreProperties>
</file>