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63040" y="960120"/>
            <a:ext cx="9235440" cy="68580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C3758"/>
                </a:solidFill>
              </a:defRPr>
            </a:pPr>
            <a:r>
              <a:t>DATABASE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54A96"/>
                </a:solidFill>
              </a:defRPr>
            </a:pPr>
            <a:r>
              <a:t>Normalization and Functional Dependency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246120"/>
            <a:ext cx="10058400" cy="822960"/>
          </a:xfrm>
          <a:prstGeom prst="roundRect">
            <a:avLst/>
          </a:prstGeom>
          <a:solidFill>
            <a:srgbClr val="F1ECF9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0262D"/>
                </a:solidFill>
              </a:defRPr>
            </a:pPr>
            <a:r>
              <a:t>Anomalies • Need • Pros &amp; Cons • FD Types • Dependency Diagram • Armstrong’s Axioms • 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C3758"/>
                </a:solidFill>
              </a:defRPr>
            </a:pPr>
            <a:r>
              <a:t>Unit IV Classroom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Identify insertion, update and deletion anomalies in un-normalized or poorly designed relations.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Explain why normalization is required and discuss its advantages and limitations.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Understand functional dependency and distinguish trivial, full, partial and transitive dependencies.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Understand multivalued, join and inclusion dependencies.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Draw and interpret dependency diagrams.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Apply inference rules for functional dependencies.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Find attribute closure and use it to reason about implied functional dependencies.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What is Normalization?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698480" cy="77724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C3758"/>
                </a:solidFill>
              </a:defRPr>
            </a:pPr>
            <a:r>
              <a:t>Normalization is a systematic process of organizing relational tables to reduce redundancy and undesirable dependencies.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It decomposes a large relation into smaller well-structured relations.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The objective is to store each fact in an appropriate place.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A good decomposition should reduce anomalies while preserving required information.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Normalization is guided mainly by dependencies among attributes.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Example of an Un-Normalized / Poorly Designed 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603504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758"/>
                          </a:solidFill>
                        </a:defRPr>
                      </a:pPr>
                      <a:r>
                        <a:t>StudentID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758"/>
                          </a:solidFill>
                        </a:defRPr>
                      </a:pPr>
                      <a:r>
                        <a:t>StudentName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758"/>
                          </a:solidFill>
                        </a:defRPr>
                      </a:pPr>
                      <a:r>
                        <a:t>CourseID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758"/>
                          </a:solidFill>
                        </a:defRPr>
                      </a:pPr>
                      <a:r>
                        <a:t>CourseName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758"/>
                          </a:solidFill>
                        </a:defRPr>
                      </a:pPr>
                      <a:r>
                        <a:t>Instructor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758"/>
                          </a:solidFill>
                        </a:defRPr>
                      </a:pPr>
                      <a:r>
                        <a:t>InstructorPhone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Dr. Rao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9001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Dr. 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9002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Bikash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Dr. Rao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9001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Chitra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Dr. Rao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0262D"/>
                          </a:solidFill>
                        </a:defRPr>
                      </a:pPr>
                      <a:r>
                        <a:t>9001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4754880"/>
            <a:ext cx="10332720" cy="777240"/>
          </a:xfrm>
          <a:prstGeom prst="roundRect">
            <a:avLst/>
          </a:prstGeom>
          <a:solidFill>
            <a:srgbClr val="FDF2E2"/>
          </a:solidFill>
          <a:ln>
            <a:solidFill>
              <a:srgbClr val="C47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0262D"/>
                </a:solidFill>
              </a:defRPr>
            </a:pPr>
            <a:r>
              <a:t>Repeated facts: StudentName repeats for a student; CourseName, Instructor and InstructorPhone repeat for every enrollment.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Anomalies of an Un-Normalized 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2468880" cy="731520"/>
          </a:xfrm>
          <a:prstGeom prst="roundRect">
            <a:avLst/>
          </a:prstGeom>
          <a:solidFill>
            <a:srgbClr val="FDF2E2"/>
          </a:solidFill>
          <a:ln>
            <a:solidFill>
              <a:srgbClr val="C47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758"/>
                </a:solidFill>
              </a:defRPr>
            </a:pPr>
            <a:r>
              <a:t>Insertion Anomaly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25880"/>
            <a:ext cx="7955279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47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0262D"/>
                </a:solidFill>
              </a:defRPr>
            </a:pPr>
            <a:r>
              <a:t>A new course may not be stored until some student enrolls.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34639"/>
            <a:ext cx="2468880" cy="73152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758"/>
                </a:solidFill>
              </a:defRPr>
            </a:pPr>
            <a:r>
              <a:t>Update Anomaly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834639"/>
            <a:ext cx="7955279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0262D"/>
                </a:solidFill>
              </a:defRPr>
            </a:pPr>
            <a:r>
              <a:t>If Dr. Rao changes phone number, several rows must be updated.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43400"/>
            <a:ext cx="2468880" cy="731520"/>
          </a:xfrm>
          <a:prstGeom prst="roundRect">
            <a:avLst/>
          </a:prstGeom>
          <a:solidFill>
            <a:srgbClr val="F1ECF9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758"/>
                </a:solidFill>
              </a:defRPr>
            </a:pPr>
            <a:r>
              <a:t>Deletion Anomaly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4343400"/>
            <a:ext cx="7955279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0262D"/>
                </a:solidFill>
              </a:defRPr>
            </a:pPr>
            <a:r>
              <a:t>Deleting the last DBMS enrollment may accidentally remove DBMS course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Why Do We Need Normalization?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Reduce unnecessary data redundancy.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Avoid insertion, update and deletion anomalies.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Improve data consistency and integrity.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Make dependencies among attributes clearer.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Simplify maintenance when facts change.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Create a logical database structure that is easier to understand and extend.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Pros and Cons of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66360" cy="54864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E7D58"/>
                </a:solidFill>
              </a:defRPr>
            </a:pPr>
            <a: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Less redundancy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Better consistency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Fewer modification anomalies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Clearer data dependencies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Easier integrity enforcement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34440"/>
            <a:ext cx="5166360" cy="548640"/>
          </a:xfrm>
          <a:prstGeom prst="roundRect">
            <a:avLst/>
          </a:prstGeom>
          <a:solidFill>
            <a:srgbClr val="FDF2E2"/>
          </a:solidFill>
          <a:ln>
            <a:solidFill>
              <a:srgbClr val="C47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C47424"/>
                </a:solidFill>
              </a:defRPr>
            </a:pPr>
            <a:r>
              <a:t>Possible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09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More tables are created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Queries may require more joins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Complex joins can affect performance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Design becomes more detailed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Sometimes controlled denormalization is used for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Functional Dependency: Basic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371600"/>
            <a:ext cx="2743200" cy="91440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C3758"/>
                </a:solidFill>
              </a:defRPr>
            </a:pPr>
            <a:r>
              <a:t>X → 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00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55F6C"/>
                </a:solidFill>
              </a:defRPr>
            </a:pPr>
            <a:r>
              <a:t>means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371600"/>
            <a:ext cx="6126480" cy="91440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0262D"/>
                </a:solidFill>
              </a:defRPr>
            </a:pPr>
            <a:r>
              <a:t>If two tuples agree on X, they must also agree on 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X is called the determinant.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Y is functionally dependent on X.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Example: StudentID → StudentName, Dept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One StudentID determines exactly one StudentName and Dept.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Trivial Functional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371600"/>
            <a:ext cx="9875520" cy="73152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C3758"/>
                </a:solidFill>
              </a:defRPr>
            </a:pPr>
            <a:r>
              <a:t>An FD X → Y is trivial when Y ⊆ 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2560320"/>
            <a:ext cx="8229600" cy="73152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0262D"/>
                </a:solidFill>
              </a:defRPr>
            </a:pPr>
            <a:r>
              <a:t>Example: {StudentID, Name} →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4048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The right-hand side is already part of the left-hand side.</a:t>
            </a:r>
          </a:p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Such a dependency is always satisfied by the definition of a relation.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Full Functional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10515600" cy="82296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C3758"/>
                </a:solidFill>
              </a:defRPr>
            </a:pPr>
            <a:r>
              <a:t>Y is fully functionally dependent on X if X → Y and no proper subset of X determines 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2514600"/>
            <a:ext cx="9235440" cy="594360"/>
          </a:xfrm>
          <a:prstGeom prst="roundRect">
            <a:avLst/>
          </a:prstGeom>
          <a:solidFill>
            <a:srgbClr val="F1ECF9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0262D"/>
                </a:solidFill>
              </a:defRPr>
            </a:pPr>
            <a:r>
              <a:t>ENROLLMENT(StudentID, CourseID, Grade)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3429000"/>
            <a:ext cx="7955279" cy="68580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300" b="1">
                <a:solidFill>
                  <a:srgbClr val="20262D"/>
                </a:solidFill>
              </a:defRPr>
            </a:pPr>
            <a:r>
              <a:t>{StudentID, CourseID} → 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434840"/>
            <a:ext cx="9601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StudentID alone does not determine Grade.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CourseID alone does not determine Grade.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Therefore Grade depends on the complete composite determinant.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Partial Functional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280160"/>
            <a:ext cx="10332720" cy="777240"/>
          </a:xfrm>
          <a:prstGeom prst="roundRect">
            <a:avLst/>
          </a:prstGeom>
          <a:solidFill>
            <a:srgbClr val="FDF2E2"/>
          </a:solidFill>
          <a:ln>
            <a:solidFill>
              <a:srgbClr val="C47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C3758"/>
                </a:solidFill>
              </a:defRPr>
            </a:pPr>
            <a:r>
              <a:t>A non-key attribute depends on only a proper subset of a composite key.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23160"/>
            <a:ext cx="10332720" cy="594360"/>
          </a:xfrm>
          <a:prstGeom prst="roundRect">
            <a:avLst/>
          </a:prstGeom>
          <a:solidFill>
            <a:srgbClr val="F1ECF9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0262D"/>
                </a:solidFill>
              </a:defRPr>
            </a:pPr>
            <a:r>
              <a:t>ENROLLMENT(StudentID, CourseID, StudentName, CourseName, Grade)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2900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{StudentID, CourseID} → Grade is full.</a:t>
            </a:r>
          </a:p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StudentID → StudentName is partial with respect to the composite key.</a:t>
            </a:r>
          </a:p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CourseID → CourseName is also partial.</a:t>
            </a:r>
          </a:p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Partial dependencies are important when studying Second Normal Form (2NF).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Transitive Functional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325880"/>
            <a:ext cx="10058400" cy="73152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C3758"/>
                </a:solidFill>
              </a:defRPr>
            </a:pPr>
            <a:r>
              <a:t>If X → Y and Y → Z, then X → Z can hold transitively.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60320"/>
            <a:ext cx="3017520" cy="64008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0262D"/>
                </a:solidFill>
              </a:defRPr>
            </a:pPr>
            <a:r>
              <a:t>EmpID → DeptID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6974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F6C"/>
                </a:solidFill>
              </a:defRPr>
            </a:pPr>
            <a:r>
              <a:t>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560320"/>
            <a:ext cx="3108960" cy="64008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0262D"/>
                </a:solidFill>
              </a:defRPr>
            </a:pPr>
            <a:r>
              <a:t>DeptID → DeptName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55F6C"/>
                </a:solidFill>
              </a:defRPr>
            </a:pPr>
            <a:r>
              <a:t>therefore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560320"/>
            <a:ext cx="2286000" cy="640080"/>
          </a:xfrm>
          <a:prstGeom prst="roundRect">
            <a:avLst/>
          </a:prstGeom>
          <a:solidFill>
            <a:srgbClr val="F1ECF9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0262D"/>
                </a:solidFill>
              </a:defRPr>
            </a:pPr>
            <a:r>
              <a:t>EmpID → DeptName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77639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DeptName depends on EmpID through DeptID.</a:t>
            </a:r>
          </a:p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Transitive dependencies are important when studying Third Normal Form (3NF).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Multivalued Dependency (MVD)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25880"/>
            <a:ext cx="2286000" cy="777240"/>
          </a:xfrm>
          <a:prstGeom prst="roundRect">
            <a:avLst/>
          </a:prstGeom>
          <a:solidFill>
            <a:srgbClr val="F1ECF9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C3758"/>
                </a:solidFill>
              </a:defRPr>
            </a:pPr>
            <a:r>
              <a:t>X ↠ 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25880"/>
            <a:ext cx="7680960" cy="77724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0262D"/>
                </a:solidFill>
              </a:defRPr>
            </a:pPr>
            <a:r>
              <a:t>For a given X, there can be multiple Y values independent of another multivalued attribute.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560320"/>
            <a:ext cx="9875520" cy="64008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0262D"/>
                </a:solidFill>
              </a:defRPr>
            </a:pPr>
            <a:r>
              <a:t>STUDENT(StudentID, Hobby, Language)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20440"/>
            <a:ext cx="9692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StudentID ↠ Hobby</a:t>
            </a:r>
          </a:p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StudentID ↠ Language</a:t>
            </a:r>
          </a:p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If hobbies and languages vary independently, storing all combinations can create redundancy.</a:t>
            </a:r>
          </a:p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MVDs are central to Fourth Normal Form (4NF).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Join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80160"/>
            <a:ext cx="10607040" cy="91440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C3758"/>
                </a:solidFill>
              </a:defRPr>
            </a:pPr>
            <a:r>
              <a:t>A join dependency states that a relation can be reconstructed exactly by joining specified projections of that relation.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2651760"/>
            <a:ext cx="9144000" cy="731520"/>
          </a:xfrm>
          <a:prstGeom prst="roundRect">
            <a:avLst/>
          </a:prstGeom>
          <a:solidFill>
            <a:srgbClr val="F1ECF9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300" b="1">
                <a:solidFill>
                  <a:srgbClr val="20262D"/>
                </a:solidFill>
              </a:defRPr>
            </a:pPr>
            <a:r>
              <a:t>R = πR1(R) ⋈ πR2(R) ⋈ ... ⋈ πRn(R)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It generalizes the idea behind multivalued dependency.</a:t>
            </a:r>
          </a:p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It becomes important in Fifth Normal Form (5NF).</a:t>
            </a:r>
          </a:p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The key question is whether decomposition and subsequent natural join reproduce exactly the original relation.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Inclusion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80160"/>
            <a:ext cx="10698480" cy="86868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C3758"/>
                </a:solidFill>
              </a:defRPr>
            </a:pPr>
            <a:r>
              <a:t>An inclusion dependency states that values of one attribute set must be contained in values of another attribute 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2560320"/>
            <a:ext cx="9144000" cy="73152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300" b="1">
                <a:solidFill>
                  <a:srgbClr val="20262D"/>
                </a:solidFill>
              </a:defRPr>
            </a:pPr>
            <a:r>
              <a:t>ENROLLMENT.StudentID ⊆ STUDENT.StudentID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9476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It expresses a value-containment requirement between relations.</a:t>
            </a:r>
          </a:p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Foreign-key relationships are a common practical example.</a:t>
            </a:r>
          </a:p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Every StudentID appearing in ENROLLMENT should correspond to a StudentID in STUDENT.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Dependency Diagram: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0789920" cy="594360"/>
          </a:xfrm>
          <a:prstGeom prst="roundRect">
            <a:avLst/>
          </a:prstGeom>
          <a:solidFill>
            <a:srgbClr val="F1ECF9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0262D"/>
                </a:solidFill>
              </a:defRPr>
            </a:pPr>
            <a:r>
              <a:t>Relation: ENROLLMENT(StudentID, CourseID, StudentName, CourseName, Grade)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43200"/>
            <a:ext cx="2103120" cy="59436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0262D"/>
                </a:solidFill>
              </a:defRPr>
            </a:pPr>
            <a:r>
              <a:t>StudentID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23360"/>
            <a:ext cx="2103120" cy="59436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0262D"/>
                </a:solidFill>
              </a:defRPr>
            </a:pPr>
            <a:r>
              <a:t>CourseID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194560"/>
            <a:ext cx="2103120" cy="59436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0262D"/>
                </a:solidFill>
              </a:defRPr>
            </a:pPr>
            <a:r>
              <a:t>StudentName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480560"/>
            <a:ext cx="2103120" cy="59436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0262D"/>
                </a:solidFill>
              </a:defRPr>
            </a:pPr>
            <a:r>
              <a:t>CourseName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337560"/>
            <a:ext cx="2103120" cy="59436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0262D"/>
                </a:solidFill>
              </a:defRPr>
            </a:pPr>
            <a:r>
              <a:t>Grade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017520" y="2487168"/>
            <a:ext cx="1554480" cy="548640"/>
          </a:xfrm>
          <a:prstGeom prst="line">
            <a:avLst/>
          </a:prstGeom>
          <a:ln w="22860">
            <a:solidFill>
              <a:srgbClr val="555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17520" y="4315968"/>
            <a:ext cx="1554480" cy="457200"/>
          </a:xfrm>
          <a:prstGeom prst="line">
            <a:avLst/>
          </a:prstGeom>
          <a:ln w="22860">
            <a:solidFill>
              <a:srgbClr val="555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17520" y="3035808"/>
            <a:ext cx="5394960" cy="576072"/>
          </a:xfrm>
          <a:prstGeom prst="line">
            <a:avLst/>
          </a:prstGeom>
          <a:ln w="22860">
            <a:solidFill>
              <a:srgbClr val="555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017520" y="3611880"/>
            <a:ext cx="5394960" cy="704088"/>
          </a:xfrm>
          <a:prstGeom prst="line">
            <a:avLst/>
          </a:prstGeom>
          <a:ln w="22860">
            <a:solidFill>
              <a:srgbClr val="555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2336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7424"/>
                </a:solidFill>
              </a:defRPr>
            </a:pPr>
            <a:r>
              <a:t>Partial dependencies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709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54A96"/>
                </a:solidFill>
              </a:defRPr>
            </a:pPr>
            <a:r>
              <a:t>Full dependency on composite key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How to Read a Dependency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Underline or identify the candidate/primary key first.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Draw arrows from determinant attributes to the attributes they determine.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An arrow from part of a composite key to a non-key attribute indicates partial dependency.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A chain such as A → B → C indicates a possible transitive dependency.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Use the diagram to locate redundancy and decide how a relation may be decomposed.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Inference Rules for Functional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F6C"/>
                </a:solidFill>
              </a:defRPr>
            </a:pPr>
            <a:r>
              <a:t>Armstrong’s Axioms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2194560" cy="68580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758"/>
                </a:solidFill>
              </a:defRPr>
            </a:pPr>
            <a:r>
              <a:t>Reflexivity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325880"/>
            <a:ext cx="47548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0262D"/>
                </a:solidFill>
              </a:defRPr>
            </a:pPr>
            <a:r>
              <a:t>If Y ⊆ X, then X → 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383280" cy="68580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0262D"/>
                </a:solidFill>
              </a:defRPr>
            </a:pPr>
            <a:r>
              <a:t>{A,B} →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34639"/>
            <a:ext cx="2194560" cy="68580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758"/>
                </a:solidFill>
              </a:defRPr>
            </a:pPr>
            <a:r>
              <a:t>Augmentation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2834639"/>
            <a:ext cx="47548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0262D"/>
                </a:solidFill>
              </a:defRPr>
            </a:pPr>
            <a:r>
              <a:t>If X → Y, then XZ → YZ.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834639"/>
            <a:ext cx="3383280" cy="68580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0262D"/>
                </a:solidFill>
              </a:defRPr>
            </a:pPr>
            <a:r>
              <a:t>A → B ⇒ AC → 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343400"/>
            <a:ext cx="2194560" cy="685800"/>
          </a:xfrm>
          <a:prstGeom prst="roundRect">
            <a:avLst/>
          </a:prstGeom>
          <a:solidFill>
            <a:srgbClr val="F1ECF9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758"/>
                </a:solidFill>
              </a:defRPr>
            </a:pPr>
            <a:r>
              <a:t>Transitivity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4343400"/>
            <a:ext cx="47548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0262D"/>
                </a:solidFill>
              </a:defRPr>
            </a:pPr>
            <a:r>
              <a:t>If X → Y and Y → Z, then X → Z.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343400"/>
            <a:ext cx="3383280" cy="685800"/>
          </a:xfrm>
          <a:prstGeom prst="roundRect">
            <a:avLst/>
          </a:prstGeom>
          <a:solidFill>
            <a:srgbClr val="F1ECF9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0262D"/>
                </a:solidFill>
              </a:defRPr>
            </a:pPr>
            <a:r>
              <a:t>A → B, B → C ⇒ A → 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Derived Inference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2834640" cy="68580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758"/>
                </a:solidFill>
              </a:defRPr>
            </a:pPr>
            <a:r>
              <a:t>Union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1371600"/>
            <a:ext cx="7223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0">
                <a:solidFill>
                  <a:srgbClr val="20262D"/>
                </a:solidFill>
              </a:defRPr>
            </a:pPr>
            <a:r>
              <a:t>If X → Y and X → Z, then X → YZ.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34640"/>
            <a:ext cx="2834640" cy="68580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758"/>
                </a:solidFill>
              </a:defRPr>
            </a:pPr>
            <a:r>
              <a:t>Decomposition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2834640"/>
            <a:ext cx="7223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0">
                <a:solidFill>
                  <a:srgbClr val="20262D"/>
                </a:solidFill>
              </a:defRPr>
            </a:pPr>
            <a:r>
              <a:t>If X → YZ, then X → Y and X → 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97680"/>
            <a:ext cx="2834640" cy="685800"/>
          </a:xfrm>
          <a:prstGeom prst="roundRect">
            <a:avLst/>
          </a:prstGeom>
          <a:solidFill>
            <a:srgbClr val="F1ECF9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758"/>
                </a:solidFill>
              </a:defRPr>
            </a:pPr>
            <a:r>
              <a:t>Pseudotransitivity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4297680"/>
            <a:ext cx="7223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0">
                <a:solidFill>
                  <a:srgbClr val="20262D"/>
                </a:solidFill>
              </a:defRPr>
            </a:pPr>
            <a:r>
              <a:t>If X → Y and WY → Z, then WX → 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5669280"/>
            <a:ext cx="9418320" cy="502920"/>
          </a:xfrm>
          <a:prstGeom prst="roundRect">
            <a:avLst/>
          </a:prstGeom>
          <a:solidFill>
            <a:srgbClr val="FDF2E2"/>
          </a:solidFill>
          <a:ln>
            <a:solidFill>
              <a:srgbClr val="C47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0262D"/>
                </a:solidFill>
              </a:defRPr>
            </a:pPr>
            <a:r>
              <a:t>These rules can be derived from Armstrong’s three basic axioms.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Closure of Functional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25880"/>
            <a:ext cx="10332720" cy="77724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C3758"/>
                </a:solidFill>
              </a:defRPr>
            </a:pPr>
            <a:r>
              <a:t>F⁺ = the set of all functional dependencies logically implied by a given FD set 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Directly listing every FD in F⁺ can become very large.</a:t>
            </a:r>
          </a:p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In practice, attribute closure X⁺ is commonly computed.</a:t>
            </a:r>
          </a:p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X⁺ contains all attributes functionally determined by X under F.</a:t>
            </a:r>
          </a:p>
          <a:p>
            <a:pPr>
              <a:spcAft>
                <a:spcPts val="700"/>
              </a:spcAft>
              <a:defRPr sz="1800">
                <a:solidFill>
                  <a:srgbClr val="20262D"/>
                </a:solidFill>
              </a:defRPr>
            </a:pPr>
            <a:r>
              <a:t>• To test whether X → Y follows from F, compute X⁺. If Y ⊆ X⁺, the FD is implied.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Algorithm to Find Attribute Closure X⁺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594360" cy="59436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C3758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1325880"/>
            <a:ext cx="96012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0">
                <a:solidFill>
                  <a:srgbClr val="20262D"/>
                </a:solidFill>
              </a:defRPr>
            </a:pPr>
            <a:r>
              <a:t>Start with X⁺ = 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40280"/>
            <a:ext cx="594360" cy="59436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C3758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2240280"/>
            <a:ext cx="96012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0">
                <a:solidFill>
                  <a:srgbClr val="20262D"/>
                </a:solidFill>
              </a:defRPr>
            </a:pPr>
            <a:r>
              <a:t>For each FD Y → Z, if Y ⊆ X⁺, add Z to X⁺.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54680"/>
            <a:ext cx="594360" cy="594360"/>
          </a:xfrm>
          <a:prstGeom prst="roundRect">
            <a:avLst/>
          </a:prstGeom>
          <a:solidFill>
            <a:srgbClr val="F1ECF9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C3758"/>
                </a:solidFill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3154680"/>
            <a:ext cx="96012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0">
                <a:solidFill>
                  <a:srgbClr val="20262D"/>
                </a:solidFill>
              </a:defRPr>
            </a:pPr>
            <a:r>
              <a:t>Repeat until no new attribute can be added.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69080"/>
            <a:ext cx="594360" cy="594360"/>
          </a:xfrm>
          <a:prstGeom prst="roundRect">
            <a:avLst/>
          </a:prstGeom>
          <a:solidFill>
            <a:srgbClr val="FDF2E2"/>
          </a:solidFill>
          <a:ln>
            <a:solidFill>
              <a:srgbClr val="C47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C3758"/>
                </a:solidFill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4069080"/>
            <a:ext cx="96012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C47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0">
                <a:solidFill>
                  <a:srgbClr val="20262D"/>
                </a:solidFill>
              </a:defRPr>
            </a:pPr>
            <a:r>
              <a:t>The final set is X⁺.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5257800"/>
            <a:ext cx="9601200" cy="64008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758"/>
                </a:solidFill>
              </a:defRPr>
            </a:pPr>
            <a:r>
              <a:t>If X⁺ contains every attribute of relation R, X is a super key for 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Solved Example: Attribute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017520" cy="594360"/>
          </a:xfrm>
          <a:prstGeom prst="roundRect">
            <a:avLst/>
          </a:prstGeom>
          <a:solidFill>
            <a:srgbClr val="F1ECF9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0262D"/>
                </a:solidFill>
              </a:defRPr>
            </a:pPr>
            <a:r>
              <a:t>R(A, B, C, D, 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234440"/>
            <a:ext cx="7223760" cy="59436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0262D"/>
                </a:solidFill>
              </a:defRPr>
            </a:pPr>
            <a:r>
              <a:t>F = { A → B, B → C, AC → D, D → E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3758"/>
                </a:solidFill>
              </a:defRPr>
            </a:pPr>
            <a:r>
              <a:t>Find A⁺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148840"/>
            <a:ext cx="8138160" cy="530352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0262D"/>
                </a:solidFill>
              </a:defRPr>
            </a:pPr>
            <a:r>
              <a:t>Start: A⁺ = {A}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862072"/>
            <a:ext cx="8138160" cy="530352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0262D"/>
                </a:solidFill>
              </a:defRPr>
            </a:pPr>
            <a:r>
              <a:t>A → B  ⇒  {A,B}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575304"/>
            <a:ext cx="8138160" cy="530352"/>
          </a:xfrm>
          <a:prstGeom prst="roundRect">
            <a:avLst/>
          </a:prstGeom>
          <a:solidFill>
            <a:srgbClr val="F1ECF9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0262D"/>
                </a:solidFill>
              </a:defRPr>
            </a:pPr>
            <a:r>
              <a:t>B → C  ⇒  {A,B,C}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288536"/>
            <a:ext cx="8138160" cy="530352"/>
          </a:xfrm>
          <a:prstGeom prst="roundRect">
            <a:avLst/>
          </a:prstGeom>
          <a:solidFill>
            <a:srgbClr val="FDF2E2"/>
          </a:solidFill>
          <a:ln>
            <a:solidFill>
              <a:srgbClr val="C47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0262D"/>
                </a:solidFill>
              </a:defRPr>
            </a:pPr>
            <a:r>
              <a:t>AC → D  ⇒  {A,B,C,D}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001768"/>
            <a:ext cx="8138160" cy="530352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0262D"/>
                </a:solidFill>
              </a:defRPr>
            </a:pPr>
            <a:r>
              <a:t>D → E  ⇒  {A,B,C,D,E}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806440"/>
            <a:ext cx="10058400" cy="50292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758"/>
                </a:solidFill>
              </a:defRPr>
            </a:pPr>
            <a:r>
              <a:t>Therefore A⁺ = {A,B,C,D,E}. A determines all attributes, so A is a super key.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Using Closure to Test an FD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280160"/>
            <a:ext cx="10058400" cy="640080"/>
          </a:xfrm>
          <a:prstGeom prst="roundRect">
            <a:avLst/>
          </a:prstGeom>
          <a:solidFill>
            <a:srgbClr val="E5EFFB"/>
          </a:solidFill>
          <a:ln>
            <a:solidFill>
              <a:srgbClr val="2F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0262D"/>
                </a:solidFill>
              </a:defRPr>
            </a:pPr>
            <a:r>
              <a:t>Given F = { A → B, B → C, C → D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331720"/>
            <a:ext cx="8138160" cy="640080"/>
          </a:xfrm>
          <a:prstGeom prst="roundRect">
            <a:avLst/>
          </a:prstGeom>
          <a:solidFill>
            <a:srgbClr val="F1ECF9"/>
          </a:solidFill>
          <a:ln>
            <a:solidFill>
              <a:srgbClr val="65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C3758"/>
                </a:solidFill>
              </a:defRPr>
            </a:pPr>
            <a:r>
              <a:t>Does A → D follow from F?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337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A⁺ starts with {A}.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A → B gives {A,B}.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B → C gives {A,B,C}.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C → D gives {A,B,C,D}.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Since D ∈ A⁺, A → D is implied by F.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Quick Comparison of Dependency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111556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34365"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1C3758"/>
                          </a:solidFill>
                        </a:defRPr>
                      </a:pPr>
                      <a:r>
                        <a:t>Dependency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1C3758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1C3758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Trivial FD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RHS is subset of LHS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AB →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Full FD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Whole determinant is necessary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{SID,CID} → Grade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Partial FD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Part of composite key determines attribute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SID → StudentName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Transitive FD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Dependency through another attribute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EmpID → DeptID → DeptName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Multivalued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Independent multiple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SID ↠ Hobby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Exact reconstruction by joins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R = πR1(R) ⋈ πR2(R)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Inclusion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Values of one set contained in another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0262D"/>
                          </a:solidFill>
                        </a:defRPr>
                      </a:pPr>
                      <a:r>
                        <a:t>ENROLL.SID ⊆ STUDENT.SID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Practice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1. For R(A,B,C,D) with F={A→B, B→C, AC→D}, find A⁺ and determine whether A is a super key.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2. Identify full and partial dependencies in ENROLLMENT(SID, CID, SName, CName, Grade) with key {SID,CID}.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3. If EmpID→DeptID and DeptID→DeptName, identify the transitive dependency.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4. State whether AB→A is trivial or non-trivial.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5. Use Armstrong’s axioms to show that A→C follows from A→B and B→C.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6. Give a practical example of an inclusion dependency.</a:t>
            </a:r>
          </a:p>
          <a:p>
            <a:pPr>
              <a:spcAft>
                <a:spcPts val="700"/>
              </a:spcAft>
              <a:defRPr sz="1700">
                <a:solidFill>
                  <a:srgbClr val="20262D"/>
                </a:solidFill>
              </a:defRPr>
            </a:pPr>
            <a:r>
              <a:t>• 7. Explain how insertion, update and deletion anomalies can occur in one poorly designed relation.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758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F62A0"/>
                </a:solidFill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F6C"/>
                </a:solidFill>
              </a:defRPr>
            </a:pPr>
            <a:r>
              <a:t>Database Engineering | Normalization and Functional Dependency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Normalization improves relational design by reducing redundancy and modification anomalies.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Functional dependency X → Y means X determines Y.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Important FD forms include trivial, full, partial and transitive dependencies.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Multivalued, join and inclusion dependencies express additional structural constraints.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Dependency diagrams visually expose full, partial and transitive dependencies.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Armstrong’s axioms are reflexivity, augmentation and transitivity.</a:t>
            </a:r>
          </a:p>
          <a:p>
            <a:pPr>
              <a:spcAft>
                <a:spcPts val="700"/>
              </a:spcAft>
              <a:defRPr sz="1900">
                <a:solidFill>
                  <a:srgbClr val="20262D"/>
                </a:solidFill>
              </a:defRPr>
            </a:pPr>
            <a:r>
              <a:t>• Attribute closure helps test implied dependencies and identify super keys.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5715000"/>
            <a:ext cx="9418320" cy="502920"/>
          </a:xfrm>
          <a:prstGeom prst="roundRect">
            <a:avLst/>
          </a:prstGeom>
          <a:solidFill>
            <a:srgbClr val="E8F6E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758"/>
                </a:solidFill>
              </a:defRPr>
            </a:pPr>
            <a:r>
              <a:t>Next logical topic: Normal Forms such as 1NF, 2NF, 3NF and BCNF.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