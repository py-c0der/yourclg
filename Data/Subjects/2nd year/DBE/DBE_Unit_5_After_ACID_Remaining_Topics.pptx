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63040" y="822960"/>
            <a:ext cx="9235440" cy="731520"/>
          </a:xfrm>
          <a:prstGeom prst="roundRect">
            <a:avLst/>
          </a:prstGeom>
          <a:solidFill>
            <a:srgbClr val="E5EFFB"/>
          </a:solidFill>
          <a:ln w="1524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900" b="1">
                <a:solidFill>
                  <a:srgbClr val="1C3556"/>
                </a:solidFill>
                <a:latin typeface="Arial"/>
              </a:defRPr>
            </a:pPr>
            <a:r>
              <a:t>DATABASE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654997"/>
                </a:solidFill>
                <a:latin typeface="Arial"/>
              </a:defRPr>
            </a:pPr>
            <a:r>
              <a:t>UNIT V: Transaction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C3556"/>
                </a:solidFill>
                <a:latin typeface="Arial"/>
              </a:defRPr>
            </a:pPr>
            <a:r>
              <a:t>Topics After ACID Properties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29000"/>
            <a:ext cx="10652760" cy="1005840"/>
          </a:xfrm>
          <a:prstGeom prst="roundRect">
            <a:avLst/>
          </a:prstGeom>
          <a:solidFill>
            <a:srgbClr val="F1ECF9"/>
          </a:solidFill>
          <a:ln w="1524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  <a:latin typeface="Arial"/>
              </a:defRPr>
            </a:pPr>
            <a:r>
              <a:t>Transaction States • Serial and Non-Serial Schedules • Concurrency Problems • Conflict Serializability • Database Failures •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A6470"/>
                </a:solidFill>
                <a:latin typeface="Arial"/>
              </a:defRPr>
            </a:pPr>
            <a:r>
              <a:t>Detailed classroom notes with solved scheduling problems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Unit V Coverage in This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Transaction States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Serial Schedule and Non-Serial Schedule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Concurrency Control Problems: Lost Update, Dirty Read, Non-repeatable Read and Incorrect Summary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Serializability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Conflict Serializability only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Conflict operations and precedence graph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Types of Database Failure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Database Recovery, including UNDO, REDO, logging and checkpoints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Transaction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1417320" cy="685800"/>
          </a:xfrm>
          <a:prstGeom prst="roundRect">
            <a:avLst/>
          </a:prstGeom>
          <a:solidFill>
            <a:srgbClr val="E5EFFB"/>
          </a:solidFill>
          <a:ln w="1524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2468880"/>
            <a:ext cx="1691640" cy="68580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830"/>
                </a:solidFill>
                <a:latin typeface="Arial"/>
              </a:defRPr>
            </a:pPr>
            <a:r>
              <a:t>Partially</a:t>
            </a:r>
            <a:br/>
            <a:r>
              <a:t>Committed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325880"/>
            <a:ext cx="1600200" cy="68580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  <a:latin typeface="Arial"/>
              </a:defRPr>
            </a:pPr>
            <a:r>
              <a:t>Committed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3703320"/>
            <a:ext cx="1600200" cy="685800"/>
          </a:xfrm>
          <a:prstGeom prst="roundRect">
            <a:avLst/>
          </a:prstGeom>
          <a:solidFill>
            <a:srgbClr val="FDF2E2"/>
          </a:solidFill>
          <a:ln w="1524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  <a:latin typeface="Arial"/>
              </a:defRPr>
            </a:pPr>
            <a:r>
              <a:t>Failed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703320"/>
            <a:ext cx="1600200" cy="685800"/>
          </a:xfrm>
          <a:prstGeom prst="roundRect">
            <a:avLst/>
          </a:prstGeom>
          <a:solidFill>
            <a:srgbClr val="F1ECF9"/>
          </a:solidFill>
          <a:ln w="1524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  <a:latin typeface="Arial"/>
              </a:defRPr>
            </a:pPr>
            <a:r>
              <a:t>Aborted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2468880"/>
            <a:ext cx="1691640" cy="685800"/>
          </a:xfrm>
          <a:prstGeom prst="roundRect">
            <a:avLst/>
          </a:prstGeom>
          <a:solidFill>
            <a:srgbClr val="E5EFFB"/>
          </a:solidFill>
          <a:ln w="1524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  <a:latin typeface="Arial"/>
              </a:defRPr>
            </a:pPr>
            <a:r>
              <a:t>Terminated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40" y="2816352"/>
            <a:ext cx="502920" cy="0"/>
          </a:xfrm>
          <a:prstGeom prst="line">
            <a:avLst/>
          </a:prstGeom>
          <a:ln w="2159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114800" y="1664208"/>
            <a:ext cx="685800" cy="1152144"/>
          </a:xfrm>
          <a:prstGeom prst="line">
            <a:avLst/>
          </a:prstGeom>
          <a:ln w="2159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14800" y="2816352"/>
            <a:ext cx="685800" cy="1225296"/>
          </a:xfrm>
          <a:prstGeom prst="line">
            <a:avLst/>
          </a:prstGeom>
          <a:ln w="2159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4041648"/>
            <a:ext cx="914400" cy="0"/>
          </a:xfrm>
          <a:prstGeom prst="line">
            <a:avLst/>
          </a:prstGeom>
          <a:ln w="2159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0" y="1664208"/>
            <a:ext cx="3429000" cy="1152144"/>
          </a:xfrm>
          <a:prstGeom prst="line">
            <a:avLst/>
          </a:prstGeom>
          <a:ln w="2159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915400" y="2816352"/>
            <a:ext cx="914400" cy="1225296"/>
          </a:xfrm>
          <a:prstGeom prst="line">
            <a:avLst/>
          </a:prstGeom>
          <a:ln w="2159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37360" y="2148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470"/>
                </a:solidFill>
                <a:latin typeface="Arial"/>
              </a:defRPr>
            </a:pPr>
            <a:r>
              <a:t>Normal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960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7E58"/>
                </a:solidFill>
                <a:latin typeface="Arial"/>
              </a:defRPr>
            </a:pPr>
            <a:r>
              <a:t>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26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27223"/>
                </a:solidFill>
                <a:latin typeface="Arial"/>
              </a:defRPr>
            </a:pPr>
            <a:r>
              <a:t>Failure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257800"/>
            <a:ext cx="8503920" cy="685800"/>
          </a:xfrm>
          <a:prstGeom prst="roundRect">
            <a:avLst/>
          </a:prstGeom>
          <a:solidFill>
            <a:srgbClr val="F1ECF9"/>
          </a:solidFill>
          <a:ln w="1524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An aborted transaction may be restarted if the DBMS or application decides to execute it again.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Meaning of Transaction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9270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540"/>
                <a:gridCol w="546354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The transaction is executing read, write and computation operations.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Partially Committed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The final statement has executed, but successful completion is not yet fully secured.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The transaction completed successfully and its changes are accepted as permanent.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Failed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The transaction cannot proceed because of an error, deadlock, crash or other problem.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Aborted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The transaction has been rolled back and its incomplete effects are removed.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Terminated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Processing is finished after commit or abort handling.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What is a Schedule?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10607040" cy="822960"/>
          </a:xfrm>
          <a:prstGeom prst="roundRect">
            <a:avLst/>
          </a:prstGeom>
          <a:solidFill>
            <a:srgbClr val="E5EFFB"/>
          </a:solidFill>
          <a:ln w="1524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C3556"/>
                </a:solidFill>
                <a:latin typeface="Arial"/>
              </a:defRPr>
            </a:pPr>
            <a:r>
              <a:t>A schedule is the chronological order in which operations of one or more transactions are executed.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A schedule preserves the original order of operations inside each individual transaction.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Operations of different transactions may execute one after another or may be interleaved.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Schedules are used to study concurrency and correctness.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The main categories are serial schedules and non-serial schedules.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257800"/>
            <a:ext cx="8503920" cy="64008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Notation: R1(X) means T1 reads X. W2(Y) means T2 writes 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Serial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10515600" cy="73152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C3556"/>
                </a:solidFill>
                <a:latin typeface="Arial"/>
              </a:defRPr>
            </a:pPr>
            <a:r>
              <a:t>In a serial schedule, one transaction completes before the next transaction starts.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2057400"/>
          <a:ext cx="3840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48332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03520" y="21488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T1 completes all its operations first.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Only after T1 completes does T2 execute.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Transaction order is T1 → T2.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Serial execution is simple and correct, but it may reduce concurrency.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Non-Serial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10515600" cy="731520"/>
          </a:xfrm>
          <a:prstGeom prst="roundRect">
            <a:avLst/>
          </a:prstGeom>
          <a:solidFill>
            <a:srgbClr val="F1ECF9"/>
          </a:solidFill>
          <a:ln w="1524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C3556"/>
                </a:solidFill>
                <a:latin typeface="Arial"/>
              </a:defRPr>
            </a:pPr>
            <a:r>
              <a:t>In a non-serial schedule, operations of multiple transactions are interleaved.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2057400"/>
          <a:ext cx="3840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48332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03520" y="2148840"/>
            <a:ext cx="5212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T1 and T2 overlap in time.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Non-serial execution can improve throughput and resource utilization.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Interleaving must be controlled because some schedules produce incorrect results.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A correct non-serial schedule should satisfy the required serializability condition.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Serial vs Non-Serial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Serial Schedule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Non-Serial Schedule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Transactions execute one by 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Operations are interleaved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Concurrency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No transaction overlap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Transactions overlap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Performance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May have lower throughput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Can improve throughput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Correctness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Naturally avoids interleaving anomalies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Requires concurrency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T1 → T2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T1 and T2 operations mixed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51560" y="5806440"/>
            <a:ext cx="10058400" cy="594360"/>
          </a:xfrm>
          <a:prstGeom prst="roundRect">
            <a:avLst/>
          </a:prstGeom>
          <a:solidFill>
            <a:srgbClr val="FDF2E2"/>
          </a:solidFill>
          <a:ln w="1524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830"/>
                </a:solidFill>
                <a:latin typeface="Arial"/>
              </a:defRPr>
            </a:pPr>
            <a:r>
              <a:t>Non-serial does not automatically mean incorrect. A non-serial schedule may still be serializable.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Why Concurrency Problems Occur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10515600" cy="731520"/>
          </a:xfrm>
          <a:prstGeom prst="roundRect">
            <a:avLst/>
          </a:prstGeom>
          <a:solidFill>
            <a:srgbClr val="E5EFFB"/>
          </a:solidFill>
          <a:ln w="1524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C3556"/>
                </a:solidFill>
                <a:latin typeface="Arial"/>
              </a:defRPr>
            </a:pPr>
            <a:r>
              <a:t>Concurrency allows several transactions to execute during overlapping time periods.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241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Multiple users may read and write the same database items at nearly the same time.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If operations are interleaved without proper control, one transaction can affect the correctness of another.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Typical problems in this unit are Lost Update, Dirty Read, Non-repeatable Read and Incorrect Summary.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Concurrency control aims to preserve correctness while still allowing useful parallel activity.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Concurrency Problem 1: Lost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051560"/>
            <a:ext cx="6492240" cy="594360"/>
          </a:xfrm>
          <a:prstGeom prst="roundRect">
            <a:avLst/>
          </a:prstGeom>
          <a:solidFill>
            <a:srgbClr val="E5EFFB"/>
          </a:solidFill>
          <a:ln w="1524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C3556"/>
                </a:solidFill>
                <a:latin typeface="Arial"/>
              </a:defRPr>
            </a:pPr>
            <a:r>
              <a:t>Initial account balance X = ₹10,000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108356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476794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T1: Withdraw ₹1,000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T2: Deposit ₹2,000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Read X = 10000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Read X = 10000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Compute X = 9000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Compute X = 12000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Write X = 9000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Write X = 12000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5440680"/>
            <a:ext cx="10561320" cy="777240"/>
          </a:xfrm>
          <a:prstGeom prst="roundRect">
            <a:avLst/>
          </a:prstGeom>
          <a:solidFill>
            <a:srgbClr val="FDF2E2"/>
          </a:solidFill>
          <a:ln w="1524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830"/>
                </a:solidFill>
                <a:latin typeface="Arial"/>
              </a:defRPr>
            </a:pPr>
            <a:r>
              <a:t>Final stored value becomes ₹12,000, so T1's withdrawal is lost. Correct result after both operations should be ₹11,000.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Concurrency Problem 2: Dirty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10607040" cy="777240"/>
          </a:xfrm>
          <a:prstGeom prst="roundRect">
            <a:avLst/>
          </a:prstGeom>
          <a:solidFill>
            <a:srgbClr val="F1ECF9"/>
          </a:solidFill>
          <a:ln w="1524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Dirty read occurs when one transaction reads data written by another transaction before that transaction commits.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10312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T1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T2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Read X = 10000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Write X = 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Read X = 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ROLLBACK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T2 has already used 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280160" y="5349240"/>
            <a:ext cx="9601200" cy="685800"/>
          </a:xfrm>
          <a:prstGeom prst="roundRect">
            <a:avLst/>
          </a:prstGeom>
          <a:solidFill>
            <a:srgbClr val="FDF2E2"/>
          </a:solidFill>
          <a:ln w="1524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  <a:latin typeface="Arial"/>
              </a:defRPr>
            </a:pPr>
            <a:r>
              <a:t>The value 5000 was uncommitted and later disappeared. T2 therefore used a dirty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Concurrency Problem 3: Non-repeatable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10607040" cy="868680"/>
          </a:xfrm>
          <a:prstGeom prst="roundRect">
            <a:avLst/>
          </a:prstGeom>
          <a:solidFill>
            <a:srgbClr val="E5EFFB"/>
          </a:solidFill>
          <a:ln w="1524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A transaction reads the same row twice but gets different values because another transaction updates and commits it between the two reads.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97280" y="2240280"/>
          <a:ext cx="9966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T1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T2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Read X = 10000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Update X = 12000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COMMIT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Read X = 12000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143000" y="5166360"/>
            <a:ext cx="9921240" cy="73152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T1's first read gives 10000, while its second read gives 12000. The same read is not repeatable.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Concurrency Problem 4: Incorrect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10607040" cy="868680"/>
          </a:xfrm>
          <a:prstGeom prst="roundRect">
            <a:avLst/>
          </a:prstGeom>
          <a:solidFill>
            <a:srgbClr val="FDF2E2"/>
          </a:solidFill>
          <a:ln w="1524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Incorrect summary occurs when an aggregate is calculated while another transaction is updating some of the rows being summarized.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Suppose T1 calculates the total balance of accounts A and B.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At the same time, T2 transfers money from A to B.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T1 may read A before the transfer and B after the transfer.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The calculated total can mix old and new values and therefore become incorrect.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5166360"/>
            <a:ext cx="8138160" cy="685800"/>
          </a:xfrm>
          <a:prstGeom prst="roundRect">
            <a:avLst/>
          </a:prstGeom>
          <a:solidFill>
            <a:srgbClr val="F1ECF9"/>
          </a:solidFill>
          <a:ln w="1524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The problem is also called inconsistent analysis in many DBMS texts.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Concurrency Problems: Quick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Problem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Main Situation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Effect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Lost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Two transactions update the same item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One update overwrites another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Dirty 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Read uncommitted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Transaction uses a value that may be rolled 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Non-repeatable 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Same row read twice around another committed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Different values are obtained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Incorrect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Aggregate overlaps with updates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Mixed old and new values produce wrong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234440" y="5760720"/>
            <a:ext cx="9738360" cy="59436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Concurrency control mechanisms are used to prevent or control these anomalies.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Serializability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143000"/>
            <a:ext cx="10058400" cy="731520"/>
          </a:xfrm>
          <a:prstGeom prst="roundRect">
            <a:avLst/>
          </a:prstGeom>
          <a:solidFill>
            <a:srgbClr val="E5EFFB"/>
          </a:solidFill>
          <a:ln w="1524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C3556"/>
                </a:solidFill>
                <a:latin typeface="Arial"/>
              </a:defRPr>
            </a:pPr>
            <a:r>
              <a:t>Serializability is a correctness criterion for concurrent schedules.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A serializable non-serial schedule produces an effect equivalent to an appropriate serial execution.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It allows concurrency while preserving the logical correctness expected from serial execution.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In this unit, we focus only on Conflict Serializability.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Conflict serializability is tested using conflicting operations and a precedence graph.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Conflict Serializability: Conflicting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10744200" cy="868680"/>
          </a:xfrm>
          <a:prstGeom prst="roundRect">
            <a:avLst/>
          </a:prstGeom>
          <a:solidFill>
            <a:srgbClr val="F1ECF9"/>
          </a:solidFill>
          <a:ln w="1524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Two operations conflict when they belong to different transactions, access the same data item, and at least one operation is WRITE.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148840"/>
          <a:ext cx="103327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562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Pair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Conflict?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Reason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R1(X), R2(X)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Read and 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R1(X), W2(X)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Read and Write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W1(X), R2(X)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Write and 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W1(X), W2(X)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Write and Write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R1(X), W2(Y)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Different data 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280160" y="5715000"/>
            <a:ext cx="9601200" cy="59436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Remember: Same item + different transactions + at least one write = conflict.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Precedence Graph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Step 1: Create one node for each transaction.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Step 2: Find all conflicting operation pairs.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Step 3: If a conflicting operation of Ti occurs before the conflicting operation of Tj, draw Ti → Tj.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Step 4: Check the graph for a directed cycle.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Step 5: If the graph is acyclic, the schedule is conflict serializable.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Step 6: A topological ordering gives an equivalent serial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623560"/>
            <a:ext cx="4846320" cy="640080"/>
          </a:xfrm>
          <a:prstGeom prst="roundRect">
            <a:avLst/>
          </a:prstGeom>
          <a:solidFill>
            <a:srgbClr val="FDF2E2"/>
          </a:solidFill>
          <a:ln w="1524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  <a:latin typeface="Arial"/>
              </a:defRPr>
            </a:pPr>
            <a:r>
              <a:t>Cycle present = NOT conflict serializable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623560"/>
            <a:ext cx="4846320" cy="64008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No cycle = Conflict serializable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Solved Problem 1: Conflict Serializable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3931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937760" y="1143000"/>
            <a:ext cx="2468880" cy="594360"/>
          </a:xfrm>
          <a:prstGeom prst="roundRect">
            <a:avLst/>
          </a:prstGeom>
          <a:solidFill>
            <a:srgbClr val="FDF2E2"/>
          </a:solidFill>
          <a:ln w="1524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Conflicts on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87451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830"/>
                </a:solidFill>
                <a:latin typeface="Arial"/>
              </a:defRPr>
            </a:pPr>
            <a:r>
              <a:t>• W1(X) before R2(X) ⇒ T1 → T2</a:t>
            </a:r>
          </a:p>
          <a:p>
            <a:pPr>
              <a:spcAft>
                <a:spcPts val="700"/>
              </a:spcAft>
              <a:defRPr sz="1600">
                <a:solidFill>
                  <a:srgbClr val="232830"/>
                </a:solidFill>
                <a:latin typeface="Arial"/>
              </a:defRPr>
            </a:pPr>
            <a:r>
              <a:t>• W1(X) before W2(X) ⇒ T1 → T2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28800"/>
            <a:ext cx="2560320" cy="82296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32830"/>
                </a:solidFill>
                <a:latin typeface="Arial"/>
              </a:defRPr>
            </a:pPr>
            <a:r>
              <a:t>T1  →  T2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3977639"/>
            <a:ext cx="6126480" cy="132588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Graph is acyclic.</a:t>
            </a:r>
            <a:br/>
            <a:r>
              <a:t>Therefore, the schedule is conflict serializable.</a:t>
            </a:r>
            <a:br/>
            <a:r>
              <a:t>Equivalent serial order: T1 → T2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Solved Problem 2: Non-Serializable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25880"/>
          <a:ext cx="3840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892040" y="1325880"/>
            <a:ext cx="2468880" cy="594360"/>
          </a:xfrm>
          <a:prstGeom prst="roundRect">
            <a:avLst/>
          </a:prstGeom>
          <a:solidFill>
            <a:srgbClr val="FDF2E2"/>
          </a:solidFill>
          <a:ln w="1524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Conflict 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574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830"/>
                </a:solidFill>
                <a:latin typeface="Arial"/>
              </a:defRPr>
            </a:pPr>
            <a:r>
              <a:t>• R1(X) before W2(X) ⇒ T1 → T2</a:t>
            </a:r>
          </a:p>
          <a:p>
            <a:pPr>
              <a:spcAft>
                <a:spcPts val="700"/>
              </a:spcAft>
              <a:defRPr sz="1600">
                <a:solidFill>
                  <a:srgbClr val="232830"/>
                </a:solidFill>
                <a:latin typeface="Arial"/>
              </a:defRPr>
            </a:pPr>
            <a:r>
              <a:t>• R2(Y) before W1(Y) ⇒ T2 → T1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920240"/>
            <a:ext cx="2468880" cy="868680"/>
          </a:xfrm>
          <a:prstGeom prst="roundRect">
            <a:avLst/>
          </a:prstGeom>
          <a:solidFill>
            <a:srgbClr val="F1ECF9"/>
          </a:solidFill>
          <a:ln w="1524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500" b="1">
                <a:solidFill>
                  <a:srgbClr val="232830"/>
                </a:solidFill>
                <a:latin typeface="Arial"/>
              </a:defRPr>
            </a:pPr>
            <a:r>
              <a:t>T1  ⇄  T2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800600"/>
            <a:ext cx="5852160" cy="960120"/>
          </a:xfrm>
          <a:prstGeom prst="roundRect">
            <a:avLst/>
          </a:prstGeom>
          <a:solidFill>
            <a:srgbClr val="FDF2E2"/>
          </a:solidFill>
          <a:ln w="1524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  <a:latin typeface="Arial"/>
              </a:defRPr>
            </a:pPr>
            <a:r>
              <a:t>The graph contains a cycle T1 → T2 → T1.</a:t>
            </a:r>
            <a:br/>
            <a:r>
              <a:t>Therefore, the schedule is NOT conflict serializable.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Solved Problem 3: Three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3931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R3(Y)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W3(Y)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00600" y="141732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On X: W1(X) occurs before R2(X), so T1 → T2.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On Y: W2(Y) occurs before R3(Y) and W3(Y), so T2 → T3.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Graph: T1 → T2 → T3.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No cycle exists.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4389120"/>
            <a:ext cx="4663440" cy="91440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Conflict Serializable</a:t>
            </a:r>
            <a:br/>
            <a:r>
              <a:t>Equivalent serial order: T1 → T2 → T3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Practice Problems on Conflict Serializability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1. S1 = R1(A), W1(A), R2(A), W2(A). Draw the graph and find the serial order.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2. S2 = R1(A), R2(B), W1(B), W2(A). Determine whether a cycle exists.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3. S3 = W1(X), R2(X), W2(Y), R3(Y), W3(Z). Test conflict serializability.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4. S4 = R1(X), R2(X), W1(Y), W2(Z). Find all graph edges.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5. Construct a schedule of three transactions whose graph contains T1 → T2 → T3 → T1.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5577840"/>
            <a:ext cx="9875520" cy="640080"/>
          </a:xfrm>
          <a:prstGeom prst="roundRect">
            <a:avLst/>
          </a:prstGeom>
          <a:solidFill>
            <a:srgbClr val="F1ECF9"/>
          </a:solidFill>
          <a:ln w="1524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Method for every problem: Conflicts → Edges → Graph → Cycle check → Serial order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Types of Database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097280"/>
            <a:ext cx="10515600" cy="731520"/>
          </a:xfrm>
          <a:prstGeom prst="roundRect">
            <a:avLst/>
          </a:prstGeom>
          <a:solidFill>
            <a:srgbClr val="E5EFFB"/>
          </a:solidFill>
          <a:ln w="1524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C3556"/>
                </a:solidFill>
                <a:latin typeface="Arial"/>
              </a:defRPr>
            </a:pPr>
            <a:r>
              <a:t>A failure interrupts normal transaction processing and may leave some work incomplete.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057400"/>
          <a:ext cx="111556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04088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Failure Type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Examples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Main Recovery Need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Transaction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Logical error, constraint violation, deadlock victim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Undo incomplete transaction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System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Power failure, OS crash, DBMS crash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Recover committed work and undo incomplete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Media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Disk crash, damaged storage, corrupted database 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Restore data and recover from logs or backup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Communication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Network failure in distributed processing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Resolve incomplete distributed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1. Transaction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A transaction may fail because of invalid input, arithmetic error, constraint violation or application logic error.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A DBMS may also abort a transaction to resolve a deadlock.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The failed transaction must not leave partial updates in the database.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Recovery generally rolls back the incomplete transaction.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09160"/>
            <a:ext cx="10332720" cy="868680"/>
          </a:xfrm>
          <a:prstGeom prst="roundRect">
            <a:avLst/>
          </a:prstGeom>
          <a:solidFill>
            <a:srgbClr val="FDF2E2"/>
          </a:solidFill>
          <a:ln w="1524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  <a:latin typeface="Arial"/>
              </a:defRPr>
            </a:pPr>
            <a:r>
              <a:t>Example: A fund transfer violates a rule and fails after debiting one account. The incomplete debit must be undone.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2. System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System failure includes power loss, operating-system crash or DBMS crash.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Main-memory contents may be lost, while persistent storage usually remains available.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Some committed changes may need to be redone if they were not fully propagated to database pages.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Incomplete transactions may need to be undone.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09160"/>
            <a:ext cx="10332720" cy="82296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Recovery uses persistent log information to determine which actions require UNDO and which require REDO.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3. Media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Media failure occurs when persistent storage itself is damaged or unavailable.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Examples include disk failure, bad sectors, controller failure or corrupted database files.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Recovery may require a database backup plus archived or recovery logs.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The objective is to reconstruct the database to a consistent and sufficiently recent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800600"/>
            <a:ext cx="8503920" cy="731520"/>
          </a:xfrm>
          <a:prstGeom prst="roundRect">
            <a:avLst/>
          </a:prstGeom>
          <a:solidFill>
            <a:srgbClr val="F1ECF9"/>
          </a:solidFill>
          <a:ln w="1524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Backup + recovery information = key protection against media failure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What is Database Recovery?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10607040" cy="777240"/>
          </a:xfrm>
          <a:prstGeom prst="roundRect">
            <a:avLst/>
          </a:prstGeom>
          <a:solidFill>
            <a:srgbClr val="E5EFFB"/>
          </a:solidFill>
          <a:ln w="1524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C3556"/>
                </a:solidFill>
                <a:latin typeface="Arial"/>
              </a:defRPr>
            </a:pPr>
            <a:r>
              <a:t>Database recovery is the process of restoring the database to a correct state after a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241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Recovery protects the effects of successfully committed transactions.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Recovery removes the effects of transactions that did not complete successfully.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Important recovery actions are UNDO and REDO.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Logs, checkpoints and backups provide information needed during 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5257800"/>
            <a:ext cx="8321040" cy="64008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Recovery is closely related to transaction atomicity and durability.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UNDO and REDO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Recovery Action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Used For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UNDO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Reverse the effects of an incomplete transaction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Transactions that must not remain in the 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Reapply an update using log information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Committed changes that must be restored after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069080"/>
            <a:ext cx="2194560" cy="594360"/>
          </a:xfrm>
          <a:prstGeom prst="roundRect">
            <a:avLst/>
          </a:prstGeom>
          <a:solidFill>
            <a:srgbClr val="FDF2E2"/>
          </a:solidFill>
          <a:ln w="1524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UNDO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4096512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830"/>
                </a:solidFill>
                <a:latin typeface="Arial"/>
              </a:defRPr>
            </a:pPr>
            <a:r>
              <a:t>T1 wrote X = 5000 but did not commit. Recovery restores the previous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2194560" cy="59436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REDO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98348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830"/>
                </a:solidFill>
                <a:latin typeface="Arial"/>
              </a:defRPr>
            </a:pPr>
            <a:r>
              <a:t>T2 committed X = 12000, but the database page was not safely updated before crash. Recovery reapplies the committed update.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Log-Based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10607040" cy="777240"/>
          </a:xfrm>
          <a:prstGeom prst="roundRect">
            <a:avLst/>
          </a:prstGeom>
          <a:solidFill>
            <a:srgbClr val="F1ECF9"/>
          </a:solidFill>
          <a:ln w="1524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C3556"/>
                </a:solidFill>
                <a:latin typeface="Arial"/>
              </a:defRPr>
            </a:pPr>
            <a:r>
              <a:t>A transaction log stores information about transaction activity on persistent storage.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Typical log records identify transaction start, data updates, commit and abort.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An update record may contain the data item plus old and new values.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Old values can support UNDO.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New values can support REDO.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The log must be managed so recovery information survives a system crash.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486400"/>
            <a:ext cx="6400800" cy="594360"/>
          </a:xfrm>
          <a:prstGeom prst="roundRect">
            <a:avLst/>
          </a:prstGeom>
          <a:solidFill>
            <a:srgbClr val="E5EFFB"/>
          </a:solidFill>
          <a:ln w="1524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Example log: &lt;T1, X, old=10000, new=9000&gt;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10607040" cy="82296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C3556"/>
                </a:solidFill>
                <a:latin typeface="Arial"/>
              </a:defRPr>
            </a:pPr>
            <a:r>
              <a:t>A checkpoint is a recovery marker that reduces the amount of log that must be examined after a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241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The DBMS periodically records checkpoint information.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After a crash, recovery can start from an appropriate recent checkpoint instead of processing the entire historical log.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Checkpoints therefore reduce recovery time.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Exact checkpoint implementation varies among DBMS products.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349240"/>
            <a:ext cx="9966960" cy="685800"/>
          </a:xfrm>
          <a:prstGeom prst="roundRect">
            <a:avLst/>
          </a:prstGeom>
          <a:solidFill>
            <a:srgbClr val="E5EFFB"/>
          </a:solidFill>
          <a:ln w="1524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Log history  →  CHECKPOINT  →  Recent log records  →  Crash  →  Recovery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Deferred Update vs Immediate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1036320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Basic Idea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Typical Recovery Emphasis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103632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Deferred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Database changes are postponed until transaction commitment or handled so uncommitted changes are not installed as final database 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Primarily REDO of committed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3632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Immediate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Database pages may receive changes before transaction commit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May require UNDO for incomplete work and REDO for committed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325880" y="4983480"/>
            <a:ext cx="9509760" cy="685800"/>
          </a:xfrm>
          <a:prstGeom prst="roundRect">
            <a:avLst/>
          </a:prstGeom>
          <a:solidFill>
            <a:srgbClr val="FDF2E2"/>
          </a:solidFill>
          <a:ln w="1524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830"/>
                </a:solidFill>
                <a:latin typeface="Arial"/>
              </a:defRPr>
            </a:pPr>
            <a:r>
              <a:t>The exact algorithm depends on the DBMS recovery design and logging rules.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Recovery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097280"/>
            <a:ext cx="9784080" cy="685800"/>
          </a:xfrm>
          <a:prstGeom prst="roundRect">
            <a:avLst/>
          </a:prstGeom>
          <a:solidFill>
            <a:srgbClr val="F1ECF9"/>
          </a:solidFill>
          <a:ln w="1524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C3556"/>
                </a:solidFill>
                <a:latin typeface="Arial"/>
              </a:defRPr>
            </a:pPr>
            <a:r>
              <a:t>Suppose a crash occurs after T1 commits but before T2 commits.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57400"/>
          <a:ext cx="47548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476794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Log Event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Status at Crash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&lt;START T1&gt;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&lt;T1 updates X&gt;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&lt;COMMIT T1&gt;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T1 committed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&lt;START T2&gt;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&lt;T2 updates Y&gt;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T2 incomplete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CRASH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80760" y="214884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50">
                <a:solidFill>
                  <a:srgbClr val="232830"/>
                </a:solidFill>
                <a:latin typeface="Arial"/>
              </a:defRPr>
            </a:pPr>
            <a:r>
              <a:t>• T1 is committed, so its required effects must be preserved. REDO may be needed depending on recovery design.</a:t>
            </a:r>
          </a:p>
          <a:p>
            <a:pPr>
              <a:spcAft>
                <a:spcPts val="700"/>
              </a:spcAft>
              <a:defRPr sz="1650">
                <a:solidFill>
                  <a:srgbClr val="232830"/>
                </a:solidFill>
                <a:latin typeface="Arial"/>
              </a:defRPr>
            </a:pPr>
            <a:r>
              <a:t>• T2 is incomplete, so its uncommitted effects must not remain. UNDO may be needed.</a:t>
            </a:r>
          </a:p>
          <a:p>
            <a:pPr>
              <a:spcAft>
                <a:spcPts val="700"/>
              </a:spcAft>
              <a:defRPr sz="1650">
                <a:solidFill>
                  <a:srgbClr val="232830"/>
                </a:solidFill>
                <a:latin typeface="Arial"/>
              </a:defRPr>
            </a:pPr>
            <a:r>
              <a:t>• The log helps the DBMS make these decisions.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Important Short Questions for Examination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232830"/>
                </a:solidFill>
                <a:latin typeface="Arial"/>
              </a:defRPr>
            </a:pPr>
            <a:r>
              <a:t>• 1. Define Active, Partially Committed, Failed, Aborted and Committed states.</a:t>
            </a:r>
          </a:p>
          <a:p>
            <a:pPr>
              <a:spcAft>
                <a:spcPts val="700"/>
              </a:spcAft>
              <a:defRPr sz="1550">
                <a:solidFill>
                  <a:srgbClr val="232830"/>
                </a:solidFill>
                <a:latin typeface="Arial"/>
              </a:defRPr>
            </a:pPr>
            <a:r>
              <a:t>• 2. Differentiate serial and non-serial schedules.</a:t>
            </a:r>
          </a:p>
          <a:p>
            <a:pPr>
              <a:spcAft>
                <a:spcPts val="700"/>
              </a:spcAft>
              <a:defRPr sz="1550">
                <a:solidFill>
                  <a:srgbClr val="232830"/>
                </a:solidFill>
                <a:latin typeface="Arial"/>
              </a:defRPr>
            </a:pPr>
            <a:r>
              <a:t>• 3. What is a lost update problem?</a:t>
            </a:r>
          </a:p>
          <a:p>
            <a:pPr>
              <a:spcAft>
                <a:spcPts val="700"/>
              </a:spcAft>
              <a:defRPr sz="1550">
                <a:solidFill>
                  <a:srgbClr val="232830"/>
                </a:solidFill>
                <a:latin typeface="Arial"/>
              </a:defRPr>
            </a:pPr>
            <a:r>
              <a:t>• 4. What is a dirty read?</a:t>
            </a:r>
          </a:p>
          <a:p>
            <a:pPr>
              <a:spcAft>
                <a:spcPts val="700"/>
              </a:spcAft>
              <a:defRPr sz="1550">
                <a:solidFill>
                  <a:srgbClr val="232830"/>
                </a:solidFill>
                <a:latin typeface="Arial"/>
              </a:defRPr>
            </a:pPr>
            <a:r>
              <a:t>• 5. Define non-repeatable read.</a:t>
            </a:r>
          </a:p>
          <a:p>
            <a:pPr>
              <a:spcAft>
                <a:spcPts val="700"/>
              </a:spcAft>
              <a:defRPr sz="1550">
                <a:solidFill>
                  <a:srgbClr val="232830"/>
                </a:solidFill>
                <a:latin typeface="Arial"/>
              </a:defRPr>
            </a:pPr>
            <a:r>
              <a:t>• 6. What is incorrect summary?</a:t>
            </a:r>
          </a:p>
          <a:p>
            <a:pPr>
              <a:spcAft>
                <a:spcPts val="700"/>
              </a:spcAft>
              <a:defRPr sz="1550">
                <a:solidFill>
                  <a:srgbClr val="232830"/>
                </a:solidFill>
                <a:latin typeface="Arial"/>
              </a:defRPr>
            </a:pPr>
            <a:r>
              <a:t>• 7. Define conflict serializability.</a:t>
            </a:r>
          </a:p>
          <a:p>
            <a:pPr>
              <a:spcAft>
                <a:spcPts val="700"/>
              </a:spcAft>
              <a:defRPr sz="1550">
                <a:solidFill>
                  <a:srgbClr val="232830"/>
                </a:solidFill>
                <a:latin typeface="Arial"/>
              </a:defRPr>
            </a:pPr>
            <a:r>
              <a:t>• 8. When do two operations conflict?</a:t>
            </a:r>
          </a:p>
          <a:p>
            <a:pPr>
              <a:spcAft>
                <a:spcPts val="700"/>
              </a:spcAft>
              <a:defRPr sz="1550">
                <a:solidFill>
                  <a:srgbClr val="232830"/>
                </a:solidFill>
                <a:latin typeface="Arial"/>
              </a:defRPr>
            </a:pPr>
            <a:r>
              <a:t>• 9. What is the role of a precedence graph?</a:t>
            </a:r>
          </a:p>
          <a:p>
            <a:pPr>
              <a:spcAft>
                <a:spcPts val="700"/>
              </a:spcAft>
              <a:defRPr sz="1550">
                <a:solidFill>
                  <a:srgbClr val="232830"/>
                </a:solidFill>
                <a:latin typeface="Arial"/>
              </a:defRPr>
            </a:pPr>
            <a:r>
              <a:t>• 10. List the major types of database failure.</a:t>
            </a:r>
          </a:p>
          <a:p>
            <a:pPr>
              <a:spcAft>
                <a:spcPts val="700"/>
              </a:spcAft>
              <a:defRPr sz="1550">
                <a:solidFill>
                  <a:srgbClr val="232830"/>
                </a:solidFill>
                <a:latin typeface="Arial"/>
              </a:defRPr>
            </a:pPr>
            <a:r>
              <a:t>• 11. Differentiate UNDO and REDO.</a:t>
            </a:r>
          </a:p>
          <a:p>
            <a:pPr>
              <a:spcAft>
                <a:spcPts val="700"/>
              </a:spcAft>
              <a:defRPr sz="1550">
                <a:solidFill>
                  <a:srgbClr val="232830"/>
                </a:solidFill>
                <a:latin typeface="Arial"/>
              </a:defRPr>
            </a:pPr>
            <a:r>
              <a:t>• 12. What is a checkpoint and why is it used?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Unit V Recap After ACID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5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Transaction states describe the life cycle of a transaction from Active to Commit or Abort.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Serial schedules execute transactions one by one, while non-serial schedules interleave operations.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Important concurrency problems are Lost Update, Dirty Read, Non-repeatable Read and Incorrect Summary.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Conflict serializability is tested using conflicting operations and a precedence graph.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Acyclic precedence graph means conflict serializable; a cycle means not conflict serializable.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Database failures include transaction, system and media failures, with communication failure relevant in distributed environments.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Recovery uses techniques such as UNDO, REDO, logging, checkpoints and backups to restore correctness.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