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463040" y="914400"/>
            <a:ext cx="9235440" cy="73152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3000" b="1">
                <a:solidFill>
                  <a:srgbClr val="1E3758"/>
                </a:solidFill>
              </a:defRPr>
            </a:pPr>
            <a:r>
              <a:t>DATABASE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11680"/>
            <a:ext cx="1106424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644894"/>
                </a:solidFill>
              </a:defRPr>
            </a:pPr>
            <a:r>
              <a:t>Normalization with Step-by-Step Examples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3246120"/>
            <a:ext cx="9509760" cy="82296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200" b="1">
                <a:solidFill>
                  <a:srgbClr val="232830"/>
                </a:solidFill>
              </a:defRPr>
            </a:pPr>
            <a:r>
              <a:t>Unnormalized Design → 1NF → 2NF → 3NF → BCNF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70916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0">
                <a:solidFill>
                  <a:srgbClr val="5A626C"/>
                </a:solidFill>
              </a:defRPr>
            </a:pPr>
            <a:r>
              <a:t>Concept, anomalies, functional dependencies, decomposition and solved examples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Explain why normalization is required in relational database design.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Recognize insertion, update and deletion anomalies.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Identify keys and functional dependencies before normalization.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Convert a relation step by step into 1NF, 2NF and 3NF.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Understand the basic condition for BCNF.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Verify that the final relations reduce redundancy and preserve meaningful relationships.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What is Normalization?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234440"/>
            <a:ext cx="10698480" cy="82296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758"/>
                </a:solidFill>
              </a:defRPr>
            </a:pPr>
            <a:r>
              <a:t>Normalization is the process of organizing data into well-structured relations to reduce redundancy and modification anomalies.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900">
                <a:solidFill>
                  <a:srgbClr val="232830"/>
                </a:solidFill>
              </a:defRPr>
            </a:pPr>
            <a:r>
              <a:t>• Large tables often mix facts about several real-world entities.</a:t>
            </a:r>
          </a:p>
          <a:p>
            <a:pPr>
              <a:spcAft>
                <a:spcPts val="700"/>
              </a:spcAft>
              <a:defRPr sz="1900">
                <a:solidFill>
                  <a:srgbClr val="232830"/>
                </a:solidFill>
              </a:defRPr>
            </a:pPr>
            <a:r>
              <a:t>• Repeated facts waste storage and can become inconsistent.</a:t>
            </a:r>
          </a:p>
          <a:p>
            <a:pPr>
              <a:spcAft>
                <a:spcPts val="700"/>
              </a:spcAft>
              <a:defRPr sz="1900">
                <a:solidFill>
                  <a:srgbClr val="232830"/>
                </a:solidFill>
              </a:defRPr>
            </a:pPr>
            <a:r>
              <a:t>• Normalization decomposes such tables into smaller related tables.</a:t>
            </a:r>
          </a:p>
          <a:p>
            <a:pPr>
              <a:spcAft>
                <a:spcPts val="700"/>
              </a:spcAft>
              <a:defRPr sz="1900">
                <a:solidFill>
                  <a:srgbClr val="232830"/>
                </a:solidFill>
              </a:defRPr>
            </a:pPr>
            <a:r>
              <a:t>• Primary keys and foreign keys are then used to reconnect the information when required.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Running Example: Poorly Designed ENROLLMENT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20040" y="1143000"/>
          <a:ext cx="11567160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45895"/>
                <a:gridCol w="1445895"/>
                <a:gridCol w="1445895"/>
                <a:gridCol w="1445895"/>
                <a:gridCol w="1445895"/>
                <a:gridCol w="1445895"/>
                <a:gridCol w="1445895"/>
                <a:gridCol w="1445895"/>
              </a:tblGrid>
              <a:tr h="603504"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SID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SName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DeptID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DeptName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CID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CName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Instructor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1">
                          <a:solidFill>
                            <a:srgbClr val="1E3758"/>
                          </a:solidFill>
                        </a:defRPr>
                      </a:pPr>
                      <a:r>
                        <a:t>Grade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S1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Asha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Sen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S2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Bikash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D1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DBMS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Rao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S3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Chitra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D2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AIDS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C3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ML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Das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50" b="0">
                          <a:solidFill>
                            <a:srgbClr val="232830"/>
                          </a:solidFill>
                        </a:defRPr>
                      </a:pPr>
                      <a:r>
                        <a:t>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4526280"/>
            <a:ext cx="4754880" cy="59436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Candidate key for an enrollment: {SID, CID}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89320" y="4526280"/>
            <a:ext cx="5212080" cy="59436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Repeated facts: student, department and course details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486400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644894"/>
                </a:solidFill>
              </a:defRPr>
            </a:pPr>
            <a:r>
              <a:t>We will normalize this relation step by step.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Problems in the Poorly Designed Relation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280160"/>
            <a:ext cx="246888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Update anomaly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29000" y="1280160"/>
            <a:ext cx="8001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830"/>
                </a:solidFill>
              </a:defRPr>
            </a:pPr>
            <a:r>
              <a:t>Changing the name of department D1 may require several row updates.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2788920"/>
            <a:ext cx="2468880" cy="68580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Insertion anomaly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2788920"/>
            <a:ext cx="8001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830"/>
                </a:solidFill>
              </a:defRPr>
            </a:pPr>
            <a:r>
              <a:t>A new course cannot be represented naturally if no student has enrolled yet.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4297679"/>
            <a:ext cx="246888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Deletion anomaly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29000" y="4297679"/>
            <a:ext cx="8001000" cy="685800"/>
          </a:xfrm>
          <a:prstGeom prst="roundRect">
            <a:avLst/>
          </a:prstGeom>
          <a:solidFill>
            <a:srgbClr val="FFFFFF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830"/>
                </a:solidFill>
              </a:defRPr>
            </a:pPr>
            <a:r>
              <a:t>Deleting the last enrollment for a course may also delete the only stored course details.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Step 0: Identify Functional Dependencies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85800" y="1143000"/>
            <a:ext cx="2926080" cy="59436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E3758"/>
                </a:solidFill>
              </a:defRPr>
            </a:pPr>
            <a:r>
              <a:t>Key: {SID, CID}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463040" y="2057400"/>
            <a:ext cx="9235440" cy="566928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SID → SName, DeptID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463040" y="2834640"/>
            <a:ext cx="9235440" cy="566928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DeptID → DeptName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463040" y="3611880"/>
            <a:ext cx="9235440" cy="566928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CID → CName, Instructor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463040" y="4389120"/>
            <a:ext cx="9235440" cy="566928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{SID, CID} → Grade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486400"/>
            <a:ext cx="103327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5A626C"/>
                </a:solidFill>
              </a:defRPr>
            </a:pPr>
            <a:r>
              <a:t>Notice: some attributes depend on only SID or CID, while DeptName depends on SID indirectly through DeptID.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First Normal Form (1NF)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7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77724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E3758"/>
                </a:solidFill>
              </a:defRPr>
            </a:pPr>
            <a:r>
              <a:t>Rule: Every attribute must contain an atomic, indivisible value. No repeating groups or multi-valued cells.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E7023"/>
                </a:solidFill>
              </a:defRPr>
            </a:pPr>
            <a:r>
              <a:t>Not in 1NF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788920"/>
            <a:ext cx="3657600" cy="73152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S1 | Asha | Courses = {DBMS, OS}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2999232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5A626C"/>
                </a:solidFill>
              </a:defRPr>
            </a:pPr>
            <a:r>
              <a:t>Convert to 1NF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37960" y="2788920"/>
            <a:ext cx="4023360" cy="73152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S1 | Asha | DBMS</a:t>
            </a:r>
            <a:br/>
            <a:r>
              <a:t>S1 | Asha | 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251960"/>
            <a:ext cx="102412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Our running ENROLLMENT table already stores one course and one grade per row, so it satisfies 1NF.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However, 1NF alone does not remove partial or transitive dependencies.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Second Normal Form (2NF)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8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698480" cy="77724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E3758"/>
                </a:solidFill>
              </a:defRPr>
            </a:pPr>
            <a:r>
              <a:t>Rule: Relation must be in 1NF and every non-key attribute must be fully dependent on the whole candidate key.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31720"/>
            <a:ext cx="3657600" cy="59436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830"/>
                </a:solidFill>
              </a:defRPr>
            </a:pPr>
            <a:r>
              <a:t>Composite key = {SID, CID}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3246120"/>
            <a:ext cx="3657600" cy="59436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SID → SName, DeptID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892040" y="3246120"/>
            <a:ext cx="3840480" cy="59436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CID → CName, Instructor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425196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BE7023"/>
                </a:solidFill>
              </a:defRPr>
            </a:pPr>
            <a:r>
              <a:t>These are partial dependencies because only part of the composite key determines the attributes.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166360"/>
            <a:ext cx="6126480" cy="64008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758"/>
                </a:solidFill>
              </a:defRPr>
            </a:pPr>
            <a:r>
              <a:t>Therefore the relation is not in 2NF.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Convert the Relation to 2NF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280160"/>
            <a:ext cx="530352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STUDENT(SID, SName, DeptID, DeptName)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280160"/>
            <a:ext cx="5303520" cy="68580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COURSE(CID, CName, Instructor)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2514600"/>
            <a:ext cx="612648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32830"/>
                </a:solidFill>
              </a:defRPr>
            </a:pPr>
            <a:r>
              <a:t>ENROLLMENT(SID, CID, Grade)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657600"/>
            <a:ext cx="1024128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Student attributes are separated because they depend on SID.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Course attributes are separated because they depend on CID.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Grade remains in ENROLLMENT because it depends on the complete key {SID, CID}.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Partial dependencies have now been removed.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Is the 2NF Design Already in 3NF?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325880"/>
            <a:ext cx="960120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32830"/>
                </a:solidFill>
              </a:defRPr>
            </a:pPr>
            <a:r>
              <a:t>STUDENT(SID, SName, DeptID, DeptName)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423160"/>
            <a:ext cx="2743200" cy="59436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SID → DeptID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2423160"/>
            <a:ext cx="3108960" cy="59436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DeptID → DeptName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046720" y="2423160"/>
            <a:ext cx="2926080" cy="59436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600" b="1">
                <a:solidFill>
                  <a:srgbClr val="232830"/>
                </a:solidFill>
              </a:defRPr>
            </a:pPr>
            <a:r>
              <a:t>Therefore SID → DeptName transitively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657600"/>
            <a:ext cx="10241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BE7023"/>
                </a:solidFill>
              </a:defRPr>
            </a:pPr>
            <a:r>
              <a:t>DeptName is a non-key attribute depending on another non-key attribute DeptID.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2560320" y="4709160"/>
            <a:ext cx="704088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1E3758"/>
                </a:solidFill>
              </a:defRPr>
            </a:pPr>
            <a:r>
              <a:t>So STUDENT is in 2NF, but not yet in 3NF.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Third Normal Form (3NF)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10698480" cy="82296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1E3758"/>
                </a:solidFill>
              </a:defRPr>
            </a:pPr>
            <a:r>
              <a:t>Practical rule: Relation is in 2NF and has no transitive dependency of a non-key attribute on a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7744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A626C"/>
                </a:solidFill>
              </a:defRPr>
            </a:pPr>
            <a:r>
              <a:t>Remove DeptID → DeptName from STUDENT by creating a DEPARTMENT relation.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063240"/>
            <a:ext cx="5120640" cy="73152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32830"/>
                </a:solidFill>
              </a:defRPr>
            </a:pPr>
            <a:r>
              <a:t>STUDENT(SID, SName, DeptID)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3063240"/>
            <a:ext cx="5120640" cy="73152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232830"/>
                </a:solidFill>
              </a:defRPr>
            </a:pPr>
            <a:r>
              <a:t>DEPARTMENT(DeptID, DeptName)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4343400"/>
            <a:ext cx="905256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DeptID in STUDENT becomes a foreign key referencing DEPARTMENT.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5394960"/>
            <a:ext cx="10241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900" b="1">
                <a:solidFill>
                  <a:srgbClr val="2E7D58"/>
                </a:solidFill>
              </a:defRPr>
            </a:pPr>
            <a:r>
              <a:t>The transitive dependency has been isolated.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Final 3NF Relations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43000"/>
            <a:ext cx="2468880" cy="658368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STUDENT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74720" y="1143000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830"/>
                </a:solidFill>
              </a:defRPr>
            </a:pPr>
            <a:r>
              <a:t>SID (PK), SName, DeptID (FK)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86000"/>
            <a:ext cx="2468880" cy="658368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DEPARTMENT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2286000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830"/>
                </a:solidFill>
              </a:defRPr>
            </a:pPr>
            <a:r>
              <a:t>DeptID (PK), DeptName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429000"/>
            <a:ext cx="2468880" cy="658368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COURSE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474720" y="3429000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830"/>
                </a:solidFill>
              </a:defRPr>
            </a:pPr>
            <a:r>
              <a:t>CID (PK), CName, Instructor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572000"/>
            <a:ext cx="2468880" cy="658368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ENROLLMENT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4572000"/>
            <a:ext cx="7955279" cy="658368"/>
          </a:xfrm>
          <a:prstGeom prst="roundRect">
            <a:avLst/>
          </a:prstGeom>
          <a:solidFill>
            <a:srgbClr val="FFFFFF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0">
                <a:solidFill>
                  <a:srgbClr val="232830"/>
                </a:solidFill>
              </a:defRPr>
            </a:pPr>
            <a:r>
              <a:t>SID (PK, FK), CID (PK, FK), Grade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5806440"/>
            <a:ext cx="9875520" cy="50292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1E3758"/>
                </a:solidFill>
              </a:defRPr>
            </a:pPr>
            <a:r>
              <a:t>Result: less redundancy, fewer anomalies and clearer relationships.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Before and After Normalization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143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BE7023"/>
                </a:solidFill>
              </a:defRPr>
            </a:pPr>
            <a:r>
              <a:t>Before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1737360"/>
            <a:ext cx="4937760" cy="128016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One ENROLLMENT table</a:t>
            </a:r>
            <a:br/>
            <a:r>
              <a:t>Student + Department + Course + Grade facts mixed together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14300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100" b="1">
                <a:solidFill>
                  <a:srgbClr val="2E7D58"/>
                </a:solidFill>
              </a:defRPr>
            </a:pPr>
            <a:r>
              <a:t>After 3NF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1737360"/>
            <a:ext cx="2194560" cy="68580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STUDENT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961120" y="1737360"/>
            <a:ext cx="2194560" cy="68580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DEPARTMENT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0" y="2834639"/>
            <a:ext cx="2194560" cy="68580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COURSE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961120" y="2834639"/>
            <a:ext cx="2194560" cy="68580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ENROLLMENT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251960"/>
            <a:ext cx="103327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Repeated descriptive facts are stored once.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Updates become safer.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New departments or courses can be inserted independently.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Enrollment deletion does not automatically remove master data.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Boyce-Codd Normal Form (BCNF)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14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234440"/>
            <a:ext cx="10515600" cy="77724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100" b="1">
                <a:solidFill>
                  <a:srgbClr val="1E3758"/>
                </a:solidFill>
              </a:defRPr>
            </a:pPr>
            <a:r>
              <a:t>BCNF rule: For every non-trivial FD X → Y, X must be a super key.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332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BCNF is stricter than 3NF.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Every BCNF relation is in 3NF, but a 3NF relation need not always be in BCNF.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BCNF is especially useful when a relation has overlapping candidate keys or unusual dependencies.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14400" y="4709160"/>
            <a:ext cx="10332720" cy="86868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232830"/>
                </a:solidFill>
              </a:defRPr>
            </a:pPr>
            <a:r>
              <a:t>Simple example: TEACH(Student, Subject, Teacher), with Teacher → Subject. If Teacher is not a super key, this FD violates BCNF.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Quick Normal Form Checklist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14400" y="1325880"/>
          <a:ext cx="1033272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66360"/>
                <a:gridCol w="5166360"/>
              </a:tblGrid>
              <a:tr h="713232"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3758"/>
                          </a:solidFill>
                        </a:defRPr>
                      </a:pPr>
                      <a:r>
                        <a:t>Normal Form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1">
                          <a:solidFill>
                            <a:srgbClr val="1E3758"/>
                          </a:solidFill>
                        </a:defRPr>
                      </a:pPr>
                      <a:r>
                        <a:t>Main Question</a:t>
                      </a:r>
                    </a:p>
                  </a:txBody>
                  <a:tcPr>
                    <a:solidFill>
                      <a:srgbClr val="E5EFFB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1NF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Are all values atomic and repeating groups removed?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2NF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Is every non-key attribute dependent on the whole candidate key?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3NF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Are transitive dependencies of non-key attributes removed?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BCNF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500" b="0">
                          <a:solidFill>
                            <a:srgbClr val="232830"/>
                          </a:solidFill>
                        </a:defRPr>
                      </a:pPr>
                      <a:r>
                        <a:t>Is every determinant a super key?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914400" y="5257800"/>
            <a:ext cx="10332720" cy="685800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Recommended order: identify keys and FDs first, then test 1NF → 2NF → 3NF → BCNF.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Solved Mini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1143000"/>
            <a:ext cx="10332720" cy="640080"/>
          </a:xfrm>
          <a:prstGeom prst="roundRect">
            <a:avLst/>
          </a:prstGeom>
          <a:solidFill>
            <a:srgbClr val="F1ECF9"/>
          </a:solidFill>
          <a:ln>
            <a:solidFill>
              <a:srgbClr val="64489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900" b="1">
                <a:solidFill>
                  <a:srgbClr val="232830"/>
                </a:solidFill>
              </a:defRPr>
            </a:pPr>
            <a:r>
              <a:t>ORDER(OrderID, ProductID, ProductName, Qty)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057400"/>
            <a:ext cx="4023360" cy="594360"/>
          </a:xfrm>
          <a:prstGeom prst="roundRect">
            <a:avLst/>
          </a:prstGeom>
          <a:solidFill>
            <a:srgbClr val="E5EFFB"/>
          </a:solidFill>
          <a:ln>
            <a:solidFill>
              <a:srgbClr val="3769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Key = {OrderID, ProductID}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03520" y="2057400"/>
            <a:ext cx="4206240" cy="594360"/>
          </a:xfrm>
          <a:prstGeom prst="roundRect">
            <a:avLst/>
          </a:prstGeom>
          <a:solidFill>
            <a:srgbClr val="FDF1E0"/>
          </a:solidFill>
          <a:ln>
            <a:solidFill>
              <a:srgbClr val="BE70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232830"/>
                </a:solidFill>
              </a:defRPr>
            </a:pPr>
            <a:r>
              <a:t>ProductID → ProductName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108960"/>
            <a:ext cx="102412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ProductName depends only on ProductID, which is part of the composite key.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This is a partial dependency, so the relation violates 2NF.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Decompose into PRODUCT(ProductID, ProductName) and ORDER_ITEM(OrderID, ProductID, Qty).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Now Qty depends on the full ORDER_ITEM key, and ProductName is stored only once per product.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Practice Questions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18872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1. Why does repeated department information create an update anomaly?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2. Convert STUDENT(SID, Name, Phones) to 1NF if Phones contains multiple values.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3. For R(A,B,C) with key {A,B} and A → C, which normal form is violated and why?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4. If EmpID → DeptID and DeptID → DeptName, identify the transitive dependency.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5. Normalize ENROLLMENT(SID, CID, SName, CName, Grade) up to 3NF.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6. State the difference between the 3NF and BCNF conditions.</a:t>
            </a:r>
          </a:p>
          <a:p>
            <a:pPr>
              <a:spcAft>
                <a:spcPts val="700"/>
              </a:spcAft>
              <a:defRPr sz="1700">
                <a:solidFill>
                  <a:srgbClr val="232830"/>
                </a:solidFill>
              </a:defRPr>
            </a:pPr>
            <a:r>
              <a:t>• 7. Explain one benefit and one possible performance cost of normalization.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B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13232"/>
          </a:xfrm>
          <a:prstGeom prst="rect">
            <a:avLst/>
          </a:prstGeom>
          <a:solidFill>
            <a:srgbClr val="E5EFFB"/>
          </a:solidFill>
          <a:ln>
            <a:solidFill>
              <a:srgbClr val="BECDD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37160"/>
            <a:ext cx="107899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1E3758"/>
                </a:solidFill>
              </a:defRPr>
            </a:pPr>
            <a: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182880"/>
            <a:ext cx="548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1">
                <a:solidFill>
                  <a:srgbClr val="3769AA"/>
                </a:solidFill>
              </a:defRPr>
            </a:pPr>
            <a: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107899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Normalization organizes relations to reduce redundancy and modification anomalies.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Always identify candidate keys and functional dependencies before decomposition.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1NF removes repeating groups and requires atomic values.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2NF removes partial dependencies on a composite key.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3NF removes transitive dependencies involving non-key attributes.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BCNF requires every determinant of a non-trivial FD to be a super key.</a:t>
            </a:r>
          </a:p>
          <a:p>
            <a:pPr>
              <a:spcAft>
                <a:spcPts val="700"/>
              </a:spcAft>
              <a:defRPr sz="1800">
                <a:solidFill>
                  <a:srgbClr val="232830"/>
                </a:solidFill>
              </a:defRPr>
            </a:pPr>
            <a:r>
              <a:t>• The running example was decomposed into STUDENT, DEPARTMENT, COURSE and ENROLLMENT relations.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34440" y="5715000"/>
            <a:ext cx="9692640" cy="530352"/>
          </a:xfrm>
          <a:prstGeom prst="roundRect">
            <a:avLst/>
          </a:prstGeom>
          <a:solidFill>
            <a:srgbClr val="E7F6EE"/>
          </a:solidFill>
          <a:ln>
            <a:solidFill>
              <a:srgbClr val="2E7D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800" b="1">
                <a:solidFill>
                  <a:srgbClr val="1E3758"/>
                </a:solidFill>
              </a:defRPr>
            </a:pPr>
            <a:r>
              <a:t>Key idea: store each fact in the relation where its determinant belongs.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